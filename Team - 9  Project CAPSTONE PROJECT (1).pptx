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notesMasterIdLst>
    <p:notesMasterId r:id="rId21"/>
  </p:notesMasterIdLst>
  <p:sldIdLst>
    <p:sldId id="256" r:id="rId2"/>
    <p:sldId id="271" r:id="rId3"/>
    <p:sldId id="270" r:id="rId4"/>
    <p:sldId id="268" r:id="rId5"/>
    <p:sldId id="265" r:id="rId6"/>
    <p:sldId id="258" r:id="rId7"/>
    <p:sldId id="259" r:id="rId8"/>
    <p:sldId id="260" r:id="rId9"/>
    <p:sldId id="261" r:id="rId10"/>
    <p:sldId id="262" r:id="rId11"/>
    <p:sldId id="263" r:id="rId12"/>
    <p:sldId id="273" r:id="rId13"/>
    <p:sldId id="272" r:id="rId14"/>
    <p:sldId id="264" r:id="rId15"/>
    <p:sldId id="269" r:id="rId16"/>
    <p:sldId id="277" r:id="rId17"/>
    <p:sldId id="276" r:id="rId18"/>
    <p:sldId id="275" r:id="rId19"/>
    <p:sldId id="266"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A5356"/>
    <a:srgbClr val="9CA38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F0F0D99-7135-45AA-BCED-95CE055E04F0}" v="279" dt="2026-01-08T08:15:34.07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71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_rels/data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jpeg"/><Relationship Id="rId4" Type="http://schemas.openxmlformats.org/officeDocument/2006/relationships/image" Target="../media/image4.jpeg"/></Relationships>
</file>

<file path=ppt/diagrams/_rels/drawing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jpeg"/><Relationship Id="rId4" Type="http://schemas.openxmlformats.org/officeDocument/2006/relationships/image" Target="../media/image4.jpe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1F6A618-09FA-4FA9-896D-79F33E5C14FB}" type="doc">
      <dgm:prSet loTypeId="urn:microsoft.com/office/officeart/2005/8/layout/vList5" loCatId="list" qsTypeId="urn:microsoft.com/office/officeart/2005/8/quickstyle/simple1" qsCatId="simple" csTypeId="urn:microsoft.com/office/officeart/2005/8/colors/colorful1" csCatId="colorful"/>
      <dgm:spPr/>
      <dgm:t>
        <a:bodyPr/>
        <a:lstStyle/>
        <a:p>
          <a:endParaRPr lang="en-US"/>
        </a:p>
      </dgm:t>
    </dgm:pt>
    <dgm:pt modelId="{0D63C321-B6BF-4F44-8460-059C4DB479A8}" type="pres">
      <dgm:prSet presAssocID="{21F6A618-09FA-4FA9-896D-79F33E5C14FB}" presName="Name0" presStyleCnt="0">
        <dgm:presLayoutVars>
          <dgm:dir/>
          <dgm:animLvl val="lvl"/>
          <dgm:resizeHandles val="exact"/>
        </dgm:presLayoutVars>
      </dgm:prSet>
      <dgm:spPr/>
    </dgm:pt>
  </dgm:ptLst>
  <dgm:cxnLst>
    <dgm:cxn modelId="{1BD35A9B-9895-054D-B983-D76CB588D357}" type="presOf" srcId="{21F6A618-09FA-4FA9-896D-79F33E5C14FB}" destId="{0D63C321-B6BF-4F44-8460-059C4DB479A8}"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4990C0E-385A-46E1-A872-03852ADA83AA}" type="doc">
      <dgm:prSet loTypeId="urn:microsoft.com/office/officeart/2008/layout/BendingPictureSemiTransparentText" loCatId="picture" qsTypeId="urn:microsoft.com/office/officeart/2005/8/quickstyle/simple1" qsCatId="simple" csTypeId="urn:microsoft.com/office/officeart/2005/8/colors/accent1_2" csCatId="accent1" phldr="1"/>
      <dgm:spPr/>
      <dgm:t>
        <a:bodyPr/>
        <a:lstStyle/>
        <a:p>
          <a:endParaRPr lang="en-US"/>
        </a:p>
      </dgm:t>
    </dgm:pt>
    <dgm:pt modelId="{2A6E1FD2-C312-44E0-8D4F-62D0B25DEF3D}">
      <dgm:prSet custT="1"/>
      <dgm:spPr/>
      <dgm:t>
        <a:bodyPr/>
        <a:lstStyle/>
        <a:p>
          <a:pPr algn="ctr"/>
          <a:r>
            <a:rPr lang="en-US" sz="3000" dirty="0">
              <a:solidFill>
                <a:schemeClr val="tx1"/>
              </a:solidFill>
            </a:rPr>
            <a:t>Faiza</a:t>
          </a:r>
        </a:p>
      </dgm:t>
    </dgm:pt>
    <dgm:pt modelId="{44F95057-5241-437B-867E-E88C19DED002}" type="parTrans" cxnId="{B83602C7-9F62-4F8B-A8CB-890C8908B36E}">
      <dgm:prSet/>
      <dgm:spPr/>
      <dgm:t>
        <a:bodyPr/>
        <a:lstStyle/>
        <a:p>
          <a:endParaRPr lang="en-US"/>
        </a:p>
      </dgm:t>
    </dgm:pt>
    <dgm:pt modelId="{7161A157-77DD-4654-83AD-85053500904D}" type="sibTrans" cxnId="{B83602C7-9F62-4F8B-A8CB-890C8908B36E}">
      <dgm:prSet/>
      <dgm:spPr/>
      <dgm:t>
        <a:bodyPr/>
        <a:lstStyle/>
        <a:p>
          <a:endParaRPr lang="en-US"/>
        </a:p>
      </dgm:t>
    </dgm:pt>
    <dgm:pt modelId="{52DFE429-4D8F-4E83-8247-35E3D421C5BC}">
      <dgm:prSet/>
      <dgm:spPr/>
      <dgm:t>
        <a:bodyPr/>
        <a:lstStyle/>
        <a:p>
          <a:r>
            <a:rPr lang="en-US" dirty="0">
              <a:solidFill>
                <a:schemeClr val="tx1"/>
              </a:solidFill>
            </a:rPr>
            <a:t>Kanak</a:t>
          </a:r>
        </a:p>
      </dgm:t>
    </dgm:pt>
    <dgm:pt modelId="{29178585-482F-44F1-8411-EEE4FEB0A18B}" type="parTrans" cxnId="{48BC4E36-219E-4C17-9D2E-465B191DCFE4}">
      <dgm:prSet/>
      <dgm:spPr/>
      <dgm:t>
        <a:bodyPr/>
        <a:lstStyle/>
        <a:p>
          <a:endParaRPr lang="en-US"/>
        </a:p>
      </dgm:t>
    </dgm:pt>
    <dgm:pt modelId="{8E98556B-D954-4E58-94F6-DB98180A4585}" type="sibTrans" cxnId="{48BC4E36-219E-4C17-9D2E-465B191DCFE4}">
      <dgm:prSet/>
      <dgm:spPr/>
      <dgm:t>
        <a:bodyPr/>
        <a:lstStyle/>
        <a:p>
          <a:endParaRPr lang="en-US"/>
        </a:p>
      </dgm:t>
    </dgm:pt>
    <dgm:pt modelId="{6E9E8653-8BC8-4C52-A35B-2769E502392D}">
      <dgm:prSet/>
      <dgm:spPr/>
      <dgm:t>
        <a:bodyPr/>
        <a:lstStyle/>
        <a:p>
          <a:r>
            <a:rPr lang="en-US" dirty="0">
              <a:solidFill>
                <a:schemeClr val="tx1"/>
              </a:solidFill>
            </a:rPr>
            <a:t>Taniya Team Leader</a:t>
          </a:r>
        </a:p>
      </dgm:t>
    </dgm:pt>
    <dgm:pt modelId="{82B45140-462E-4C8B-9B25-E35F1EF90BB3}" type="parTrans" cxnId="{BE2EDDE4-F6AF-4ADF-B7B8-8B53B7B8A88E}">
      <dgm:prSet/>
      <dgm:spPr/>
      <dgm:t>
        <a:bodyPr/>
        <a:lstStyle/>
        <a:p>
          <a:endParaRPr lang="en-US"/>
        </a:p>
      </dgm:t>
    </dgm:pt>
    <dgm:pt modelId="{BC7146B3-9BDF-4553-B199-2DB02A9555FA}" type="sibTrans" cxnId="{BE2EDDE4-F6AF-4ADF-B7B8-8B53B7B8A88E}">
      <dgm:prSet/>
      <dgm:spPr/>
      <dgm:t>
        <a:bodyPr/>
        <a:lstStyle/>
        <a:p>
          <a:endParaRPr lang="en-US"/>
        </a:p>
      </dgm:t>
    </dgm:pt>
    <dgm:pt modelId="{A1F4593A-63D0-42D9-8664-58C36CAF2C13}">
      <dgm:prSet/>
      <dgm:spPr/>
      <dgm:t>
        <a:bodyPr/>
        <a:lstStyle/>
        <a:p>
          <a:r>
            <a:rPr lang="en-US" dirty="0">
              <a:solidFill>
                <a:schemeClr val="tx1"/>
              </a:solidFill>
            </a:rPr>
            <a:t>Alisha</a:t>
          </a:r>
        </a:p>
      </dgm:t>
    </dgm:pt>
    <dgm:pt modelId="{9E62E5F5-4180-43BA-94E5-A93CA903CBDE}" type="parTrans" cxnId="{F903AA03-30E0-4EE0-8539-3BC273F6D75B}">
      <dgm:prSet/>
      <dgm:spPr/>
      <dgm:t>
        <a:bodyPr/>
        <a:lstStyle/>
        <a:p>
          <a:endParaRPr lang="en-US"/>
        </a:p>
      </dgm:t>
    </dgm:pt>
    <dgm:pt modelId="{43EB3D60-2164-4D24-99E6-B02D2AEDF85E}" type="sibTrans" cxnId="{F903AA03-30E0-4EE0-8539-3BC273F6D75B}">
      <dgm:prSet/>
      <dgm:spPr/>
      <dgm:t>
        <a:bodyPr/>
        <a:lstStyle/>
        <a:p>
          <a:endParaRPr lang="en-US"/>
        </a:p>
      </dgm:t>
    </dgm:pt>
    <dgm:pt modelId="{E51EB8E7-DD72-46C1-B39A-364CA3CDCF01}" type="pres">
      <dgm:prSet presAssocID="{D4990C0E-385A-46E1-A872-03852ADA83AA}" presName="Name0" presStyleCnt="0">
        <dgm:presLayoutVars>
          <dgm:dir/>
          <dgm:resizeHandles val="exact"/>
        </dgm:presLayoutVars>
      </dgm:prSet>
      <dgm:spPr/>
    </dgm:pt>
    <dgm:pt modelId="{9B283DD1-F684-445E-A8B5-7FFD75260CAB}" type="pres">
      <dgm:prSet presAssocID="{2A6E1FD2-C312-44E0-8D4F-62D0B25DEF3D}" presName="composite" presStyleCnt="0"/>
      <dgm:spPr/>
    </dgm:pt>
    <dgm:pt modelId="{31B2C2FD-2E8E-46DF-BBEC-7E89A21861D6}" type="pres">
      <dgm:prSet presAssocID="{2A6E1FD2-C312-44E0-8D4F-62D0B25DEF3D}" presName="rect1" presStyleLbl="bgShp" presStyleIdx="0" presStyleCnt="4" custLinFactNeighborX="1003" custLinFactNeighborY="-2442"/>
      <dgm:spPr>
        <a:blipFill>
          <a:blip xmlns:r="http://schemas.openxmlformats.org/officeDocument/2006/relationships" r:embed="rId1"/>
          <a:srcRect/>
          <a:stretch>
            <a:fillRect t="-3000" b="-3000"/>
          </a:stretch>
        </a:blipFill>
      </dgm:spPr>
    </dgm:pt>
    <dgm:pt modelId="{244603A0-6E4C-43F7-8EA3-82CF4D464933}" type="pres">
      <dgm:prSet presAssocID="{2A6E1FD2-C312-44E0-8D4F-62D0B25DEF3D}" presName="rect2" presStyleLbl="trBgShp" presStyleIdx="0" presStyleCnt="4" custLinFactNeighborY="23544">
        <dgm:presLayoutVars>
          <dgm:bulletEnabled val="1"/>
        </dgm:presLayoutVars>
      </dgm:prSet>
      <dgm:spPr/>
    </dgm:pt>
    <dgm:pt modelId="{202170CC-365C-4198-8C12-0919EB3DC229}" type="pres">
      <dgm:prSet presAssocID="{7161A157-77DD-4654-83AD-85053500904D}" presName="sibTrans" presStyleCnt="0"/>
      <dgm:spPr/>
    </dgm:pt>
    <dgm:pt modelId="{53FF62FF-A0A1-4EA0-9B3D-C59EDFD13FC9}" type="pres">
      <dgm:prSet presAssocID="{52DFE429-4D8F-4E83-8247-35E3D421C5BC}" presName="composite" presStyleCnt="0"/>
      <dgm:spPr/>
    </dgm:pt>
    <dgm:pt modelId="{0205B927-6FCD-48F4-B5CB-61E08D0B1DC7}" type="pres">
      <dgm:prSet presAssocID="{52DFE429-4D8F-4E83-8247-35E3D421C5BC}" presName="rect1" presStyleLbl="bgShp" presStyleIdx="1" presStyleCnt="4"/>
      <dgm:spPr>
        <a:blipFill>
          <a:blip xmlns:r="http://schemas.openxmlformats.org/officeDocument/2006/relationships" r:embed="rId2"/>
          <a:srcRect/>
          <a:stretch>
            <a:fillRect t="-14000" b="-14000"/>
          </a:stretch>
        </a:blipFill>
      </dgm:spPr>
    </dgm:pt>
    <dgm:pt modelId="{1C170DB8-1B1C-4904-A41A-141F44C4B928}" type="pres">
      <dgm:prSet presAssocID="{52DFE429-4D8F-4E83-8247-35E3D421C5BC}" presName="rect2" presStyleLbl="trBgShp" presStyleIdx="1" presStyleCnt="4" custLinFactNeighborY="20928">
        <dgm:presLayoutVars>
          <dgm:bulletEnabled val="1"/>
        </dgm:presLayoutVars>
      </dgm:prSet>
      <dgm:spPr/>
    </dgm:pt>
    <dgm:pt modelId="{FC86206A-F1F4-4413-9358-F5DB48E5964D}" type="pres">
      <dgm:prSet presAssocID="{8E98556B-D954-4E58-94F6-DB98180A4585}" presName="sibTrans" presStyleCnt="0"/>
      <dgm:spPr/>
    </dgm:pt>
    <dgm:pt modelId="{D33AF38E-8E2B-494E-8442-160A35084E7D}" type="pres">
      <dgm:prSet presAssocID="{6E9E8653-8BC8-4C52-A35B-2769E502392D}" presName="composite" presStyleCnt="0"/>
      <dgm:spPr/>
    </dgm:pt>
    <dgm:pt modelId="{21CA5776-F04D-4D27-BE76-A00E5A36C5E0}" type="pres">
      <dgm:prSet presAssocID="{6E9E8653-8BC8-4C52-A35B-2769E502392D}" presName="rect1" presStyleLbl="bgShp" presStyleIdx="2" presStyleCnt="4"/>
      <dgm:spPr>
        <a:blipFill>
          <a:blip xmlns:r="http://schemas.openxmlformats.org/officeDocument/2006/relationships" r:embed="rId3"/>
          <a:srcRect/>
          <a:stretch>
            <a:fillRect t="-20000" b="-20000"/>
          </a:stretch>
        </a:blipFill>
      </dgm:spPr>
    </dgm:pt>
    <dgm:pt modelId="{AB53B20B-C6D5-4022-A9C6-6CE1E16884D9}" type="pres">
      <dgm:prSet presAssocID="{6E9E8653-8BC8-4C52-A35B-2769E502392D}" presName="rect2" presStyleLbl="trBgShp" presStyleIdx="2" presStyleCnt="4" custLinFactNeighborY="20928">
        <dgm:presLayoutVars>
          <dgm:bulletEnabled val="1"/>
        </dgm:presLayoutVars>
      </dgm:prSet>
      <dgm:spPr/>
    </dgm:pt>
    <dgm:pt modelId="{7A9BCE0A-145D-43BD-BE5E-B019602B8CF4}" type="pres">
      <dgm:prSet presAssocID="{BC7146B3-9BDF-4553-B199-2DB02A9555FA}" presName="sibTrans" presStyleCnt="0"/>
      <dgm:spPr/>
    </dgm:pt>
    <dgm:pt modelId="{AE8FB2BF-E2E5-4304-BFFA-E38E960B35B3}" type="pres">
      <dgm:prSet presAssocID="{A1F4593A-63D0-42D9-8664-58C36CAF2C13}" presName="composite" presStyleCnt="0"/>
      <dgm:spPr/>
    </dgm:pt>
    <dgm:pt modelId="{195559A7-AD80-4976-A6E3-13710BA98B71}" type="pres">
      <dgm:prSet presAssocID="{A1F4593A-63D0-42D9-8664-58C36CAF2C13}" presName="rect1" presStyleLbl="bgShp" presStyleIdx="3" presStyleCnt="4"/>
      <dgm:spPr>
        <a:blipFill>
          <a:blip xmlns:r="http://schemas.openxmlformats.org/officeDocument/2006/relationships" r:embed="rId4"/>
          <a:srcRect/>
          <a:stretch>
            <a:fillRect t="-24000" b="-24000"/>
          </a:stretch>
        </a:blipFill>
      </dgm:spPr>
    </dgm:pt>
    <dgm:pt modelId="{8D7B03B8-B727-4DB5-ADEC-DDBD2B38903B}" type="pres">
      <dgm:prSet presAssocID="{A1F4593A-63D0-42D9-8664-58C36CAF2C13}" presName="rect2" presStyleLbl="trBgShp" presStyleIdx="3" presStyleCnt="4" custLinFactNeighborY="23544">
        <dgm:presLayoutVars>
          <dgm:bulletEnabled val="1"/>
        </dgm:presLayoutVars>
      </dgm:prSet>
      <dgm:spPr/>
    </dgm:pt>
  </dgm:ptLst>
  <dgm:cxnLst>
    <dgm:cxn modelId="{7617E200-38D1-4290-979E-C41F12AD193F}" type="presOf" srcId="{A1F4593A-63D0-42D9-8664-58C36CAF2C13}" destId="{8D7B03B8-B727-4DB5-ADEC-DDBD2B38903B}" srcOrd="0" destOrd="0" presId="urn:microsoft.com/office/officeart/2008/layout/BendingPictureSemiTransparentText"/>
    <dgm:cxn modelId="{EBC72601-4ED0-4858-ACCE-246747221301}" type="presOf" srcId="{2A6E1FD2-C312-44E0-8D4F-62D0B25DEF3D}" destId="{244603A0-6E4C-43F7-8EA3-82CF4D464933}" srcOrd="0" destOrd="0" presId="urn:microsoft.com/office/officeart/2008/layout/BendingPictureSemiTransparentText"/>
    <dgm:cxn modelId="{F903AA03-30E0-4EE0-8539-3BC273F6D75B}" srcId="{D4990C0E-385A-46E1-A872-03852ADA83AA}" destId="{A1F4593A-63D0-42D9-8664-58C36CAF2C13}" srcOrd="3" destOrd="0" parTransId="{9E62E5F5-4180-43BA-94E5-A93CA903CBDE}" sibTransId="{43EB3D60-2164-4D24-99E6-B02D2AEDF85E}"/>
    <dgm:cxn modelId="{48BC4E36-219E-4C17-9D2E-465B191DCFE4}" srcId="{D4990C0E-385A-46E1-A872-03852ADA83AA}" destId="{52DFE429-4D8F-4E83-8247-35E3D421C5BC}" srcOrd="1" destOrd="0" parTransId="{29178585-482F-44F1-8411-EEE4FEB0A18B}" sibTransId="{8E98556B-D954-4E58-94F6-DB98180A4585}"/>
    <dgm:cxn modelId="{E1AD0998-6955-4600-8AB9-8264374B576C}" type="presOf" srcId="{52DFE429-4D8F-4E83-8247-35E3D421C5BC}" destId="{1C170DB8-1B1C-4904-A41A-141F44C4B928}" srcOrd="0" destOrd="0" presId="urn:microsoft.com/office/officeart/2008/layout/BendingPictureSemiTransparentText"/>
    <dgm:cxn modelId="{B83602C7-9F62-4F8B-A8CB-890C8908B36E}" srcId="{D4990C0E-385A-46E1-A872-03852ADA83AA}" destId="{2A6E1FD2-C312-44E0-8D4F-62D0B25DEF3D}" srcOrd="0" destOrd="0" parTransId="{44F95057-5241-437B-867E-E88C19DED002}" sibTransId="{7161A157-77DD-4654-83AD-85053500904D}"/>
    <dgm:cxn modelId="{1F96EBE2-BD2C-45F6-A051-87CF3807C652}" type="presOf" srcId="{D4990C0E-385A-46E1-A872-03852ADA83AA}" destId="{E51EB8E7-DD72-46C1-B39A-364CA3CDCF01}" srcOrd="0" destOrd="0" presId="urn:microsoft.com/office/officeart/2008/layout/BendingPictureSemiTransparentText"/>
    <dgm:cxn modelId="{BE2EDDE4-F6AF-4ADF-B7B8-8B53B7B8A88E}" srcId="{D4990C0E-385A-46E1-A872-03852ADA83AA}" destId="{6E9E8653-8BC8-4C52-A35B-2769E502392D}" srcOrd="2" destOrd="0" parTransId="{82B45140-462E-4C8B-9B25-E35F1EF90BB3}" sibTransId="{BC7146B3-9BDF-4553-B199-2DB02A9555FA}"/>
    <dgm:cxn modelId="{858611F9-94F1-4024-A18B-1F3D86E2603F}" type="presOf" srcId="{6E9E8653-8BC8-4C52-A35B-2769E502392D}" destId="{AB53B20B-C6D5-4022-A9C6-6CE1E16884D9}" srcOrd="0" destOrd="0" presId="urn:microsoft.com/office/officeart/2008/layout/BendingPictureSemiTransparentText"/>
    <dgm:cxn modelId="{40F84F1F-5198-4E65-83DD-8C930DCA02B4}" type="presParOf" srcId="{E51EB8E7-DD72-46C1-B39A-364CA3CDCF01}" destId="{9B283DD1-F684-445E-A8B5-7FFD75260CAB}" srcOrd="0" destOrd="0" presId="urn:microsoft.com/office/officeart/2008/layout/BendingPictureSemiTransparentText"/>
    <dgm:cxn modelId="{C568537B-413C-4D48-8D09-EE659F3ACABE}" type="presParOf" srcId="{9B283DD1-F684-445E-A8B5-7FFD75260CAB}" destId="{31B2C2FD-2E8E-46DF-BBEC-7E89A21861D6}" srcOrd="0" destOrd="0" presId="urn:microsoft.com/office/officeart/2008/layout/BendingPictureSemiTransparentText"/>
    <dgm:cxn modelId="{CD838BCD-833B-454F-9575-AF1B7787557A}" type="presParOf" srcId="{9B283DD1-F684-445E-A8B5-7FFD75260CAB}" destId="{244603A0-6E4C-43F7-8EA3-82CF4D464933}" srcOrd="1" destOrd="0" presId="urn:microsoft.com/office/officeart/2008/layout/BendingPictureSemiTransparentText"/>
    <dgm:cxn modelId="{DD7316F3-C12D-4800-9229-BBD6C0E0CA74}" type="presParOf" srcId="{E51EB8E7-DD72-46C1-B39A-364CA3CDCF01}" destId="{202170CC-365C-4198-8C12-0919EB3DC229}" srcOrd="1" destOrd="0" presId="urn:microsoft.com/office/officeart/2008/layout/BendingPictureSemiTransparentText"/>
    <dgm:cxn modelId="{C370489E-C397-4B77-8F76-3BBC0166E5B0}" type="presParOf" srcId="{E51EB8E7-DD72-46C1-B39A-364CA3CDCF01}" destId="{53FF62FF-A0A1-4EA0-9B3D-C59EDFD13FC9}" srcOrd="2" destOrd="0" presId="urn:microsoft.com/office/officeart/2008/layout/BendingPictureSemiTransparentText"/>
    <dgm:cxn modelId="{914AA82B-E000-4EE7-87D5-73A5FB684C07}" type="presParOf" srcId="{53FF62FF-A0A1-4EA0-9B3D-C59EDFD13FC9}" destId="{0205B927-6FCD-48F4-B5CB-61E08D0B1DC7}" srcOrd="0" destOrd="0" presId="urn:microsoft.com/office/officeart/2008/layout/BendingPictureSemiTransparentText"/>
    <dgm:cxn modelId="{FA4A7E8C-462E-425A-931B-9ACD0DA6658C}" type="presParOf" srcId="{53FF62FF-A0A1-4EA0-9B3D-C59EDFD13FC9}" destId="{1C170DB8-1B1C-4904-A41A-141F44C4B928}" srcOrd="1" destOrd="0" presId="urn:microsoft.com/office/officeart/2008/layout/BendingPictureSemiTransparentText"/>
    <dgm:cxn modelId="{7A60C501-11FE-453E-8C54-28D8D23AFC88}" type="presParOf" srcId="{E51EB8E7-DD72-46C1-B39A-364CA3CDCF01}" destId="{FC86206A-F1F4-4413-9358-F5DB48E5964D}" srcOrd="3" destOrd="0" presId="urn:microsoft.com/office/officeart/2008/layout/BendingPictureSemiTransparentText"/>
    <dgm:cxn modelId="{46A835FD-93A9-4CCA-B712-5CBB49C93B21}" type="presParOf" srcId="{E51EB8E7-DD72-46C1-B39A-364CA3CDCF01}" destId="{D33AF38E-8E2B-494E-8442-160A35084E7D}" srcOrd="4" destOrd="0" presId="urn:microsoft.com/office/officeart/2008/layout/BendingPictureSemiTransparentText"/>
    <dgm:cxn modelId="{44CEE286-A7D4-48B0-B2E3-AAB6E4DFB9F9}" type="presParOf" srcId="{D33AF38E-8E2B-494E-8442-160A35084E7D}" destId="{21CA5776-F04D-4D27-BE76-A00E5A36C5E0}" srcOrd="0" destOrd="0" presId="urn:microsoft.com/office/officeart/2008/layout/BendingPictureSemiTransparentText"/>
    <dgm:cxn modelId="{1B5879DB-70C7-43A8-B2A0-91AC44A40FDE}" type="presParOf" srcId="{D33AF38E-8E2B-494E-8442-160A35084E7D}" destId="{AB53B20B-C6D5-4022-A9C6-6CE1E16884D9}" srcOrd="1" destOrd="0" presId="urn:microsoft.com/office/officeart/2008/layout/BendingPictureSemiTransparentText"/>
    <dgm:cxn modelId="{F32898CE-15A4-46EE-BE98-46F0D5985407}" type="presParOf" srcId="{E51EB8E7-DD72-46C1-B39A-364CA3CDCF01}" destId="{7A9BCE0A-145D-43BD-BE5E-B019602B8CF4}" srcOrd="5" destOrd="0" presId="urn:microsoft.com/office/officeart/2008/layout/BendingPictureSemiTransparentText"/>
    <dgm:cxn modelId="{ECD225DE-58C8-4550-807C-B3C23A1E6C9F}" type="presParOf" srcId="{E51EB8E7-DD72-46C1-B39A-364CA3CDCF01}" destId="{AE8FB2BF-E2E5-4304-BFFA-E38E960B35B3}" srcOrd="6" destOrd="0" presId="urn:microsoft.com/office/officeart/2008/layout/BendingPictureSemiTransparentText"/>
    <dgm:cxn modelId="{880FD788-2B09-4B27-851A-B0D65193BF89}" type="presParOf" srcId="{AE8FB2BF-E2E5-4304-BFFA-E38E960B35B3}" destId="{195559A7-AD80-4976-A6E3-13710BA98B71}" srcOrd="0" destOrd="0" presId="urn:microsoft.com/office/officeart/2008/layout/BendingPictureSemiTransparentText"/>
    <dgm:cxn modelId="{0F89B4B2-43EE-4CFE-9937-8ADEE0BB9FAB}" type="presParOf" srcId="{AE8FB2BF-E2E5-4304-BFFA-E38E960B35B3}" destId="{8D7B03B8-B727-4DB5-ADEC-DDBD2B38903B}" srcOrd="1" destOrd="0" presId="urn:microsoft.com/office/officeart/2008/layout/BendingPictureSemiTransparentTex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B2C2FD-2E8E-46DF-BBEC-7E89A21861D6}">
      <dsp:nvSpPr>
        <dsp:cNvPr id="0" name=""/>
        <dsp:cNvSpPr/>
      </dsp:nvSpPr>
      <dsp:spPr>
        <a:xfrm>
          <a:off x="33953" y="662553"/>
          <a:ext cx="2980926" cy="2555006"/>
        </a:xfrm>
        <a:prstGeom prst="rect">
          <a:avLst/>
        </a:prstGeom>
        <a:blipFill>
          <a:blip xmlns:r="http://schemas.openxmlformats.org/officeDocument/2006/relationships" r:embed="rId1"/>
          <a:srcRect/>
          <a:stretch>
            <a:fillRect t="-3000" b="-3000"/>
          </a:stretch>
        </a:blipFill>
        <a:ln>
          <a:noFill/>
        </a:ln>
        <a:effectLst/>
      </dsp:spPr>
      <dsp:style>
        <a:lnRef idx="0">
          <a:scrgbClr r="0" g="0" b="0"/>
        </a:lnRef>
        <a:fillRef idx="1">
          <a:scrgbClr r="0" g="0" b="0"/>
        </a:fillRef>
        <a:effectRef idx="0">
          <a:scrgbClr r="0" g="0" b="0"/>
        </a:effectRef>
        <a:fontRef idx="minor"/>
      </dsp:style>
    </dsp:sp>
    <dsp:sp modelId="{244603A0-6E4C-43F7-8EA3-82CF4D464933}">
      <dsp:nvSpPr>
        <dsp:cNvPr id="0" name=""/>
        <dsp:cNvSpPr/>
      </dsp:nvSpPr>
      <dsp:spPr>
        <a:xfrm>
          <a:off x="4054" y="2657823"/>
          <a:ext cx="2980926" cy="613201"/>
        </a:xfrm>
        <a:prstGeom prst="rect">
          <a:avLst/>
        </a:prstGeom>
        <a:solidFill>
          <a:schemeClr val="accent1">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1333500">
            <a:lnSpc>
              <a:spcPct val="90000"/>
            </a:lnSpc>
            <a:spcBef>
              <a:spcPct val="0"/>
            </a:spcBef>
            <a:spcAft>
              <a:spcPct val="35000"/>
            </a:spcAft>
            <a:buNone/>
          </a:pPr>
          <a:r>
            <a:rPr lang="en-US" sz="3000" kern="1200" dirty="0">
              <a:solidFill>
                <a:schemeClr val="tx1"/>
              </a:solidFill>
            </a:rPr>
            <a:t>Faiza</a:t>
          </a:r>
        </a:p>
      </dsp:txBody>
      <dsp:txXfrm>
        <a:off x="4054" y="2657823"/>
        <a:ext cx="2980926" cy="613201"/>
      </dsp:txXfrm>
    </dsp:sp>
    <dsp:sp modelId="{0205B927-6FCD-48F4-B5CB-61E08D0B1DC7}">
      <dsp:nvSpPr>
        <dsp:cNvPr id="0" name=""/>
        <dsp:cNvSpPr/>
      </dsp:nvSpPr>
      <dsp:spPr>
        <a:xfrm>
          <a:off x="3289026" y="724946"/>
          <a:ext cx="2980926" cy="2555006"/>
        </a:xfrm>
        <a:prstGeom prst="rect">
          <a:avLst/>
        </a:prstGeom>
        <a:blipFill>
          <a:blip xmlns:r="http://schemas.openxmlformats.org/officeDocument/2006/relationships" r:embed="rId2"/>
          <a:srcRect/>
          <a:stretch>
            <a:fillRect t="-14000" b="-14000"/>
          </a:stretch>
        </a:blipFill>
        <a:ln>
          <a:noFill/>
        </a:ln>
        <a:effectLst/>
      </dsp:spPr>
      <dsp:style>
        <a:lnRef idx="0">
          <a:scrgbClr r="0" g="0" b="0"/>
        </a:lnRef>
        <a:fillRef idx="1">
          <a:scrgbClr r="0" g="0" b="0"/>
        </a:fillRef>
        <a:effectRef idx="0">
          <a:scrgbClr r="0" g="0" b="0"/>
        </a:effectRef>
        <a:fontRef idx="minor"/>
      </dsp:style>
    </dsp:sp>
    <dsp:sp modelId="{1C170DB8-1B1C-4904-A41A-141F44C4B928}">
      <dsp:nvSpPr>
        <dsp:cNvPr id="0" name=""/>
        <dsp:cNvSpPr/>
      </dsp:nvSpPr>
      <dsp:spPr>
        <a:xfrm>
          <a:off x="3289026" y="2641782"/>
          <a:ext cx="2980926" cy="613201"/>
        </a:xfrm>
        <a:prstGeom prst="rect">
          <a:avLst/>
        </a:prstGeom>
        <a:solidFill>
          <a:schemeClr val="accent1">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71120" tIns="71120" rIns="71120" bIns="71120" numCol="1" spcCol="1270" anchor="ctr" anchorCtr="0">
          <a:noAutofit/>
        </a:bodyPr>
        <a:lstStyle/>
        <a:p>
          <a:pPr marL="0" lvl="0" indent="0" algn="ctr" defTabSz="1244600">
            <a:lnSpc>
              <a:spcPct val="90000"/>
            </a:lnSpc>
            <a:spcBef>
              <a:spcPct val="0"/>
            </a:spcBef>
            <a:spcAft>
              <a:spcPct val="35000"/>
            </a:spcAft>
            <a:buNone/>
          </a:pPr>
          <a:r>
            <a:rPr lang="en-US" sz="2800" kern="1200" dirty="0">
              <a:solidFill>
                <a:schemeClr val="tx1"/>
              </a:solidFill>
            </a:rPr>
            <a:t>Kanak</a:t>
          </a:r>
        </a:p>
      </dsp:txBody>
      <dsp:txXfrm>
        <a:off x="3289026" y="2641782"/>
        <a:ext cx="2980926" cy="613201"/>
      </dsp:txXfrm>
    </dsp:sp>
    <dsp:sp modelId="{21CA5776-F04D-4D27-BE76-A00E5A36C5E0}">
      <dsp:nvSpPr>
        <dsp:cNvPr id="0" name=""/>
        <dsp:cNvSpPr/>
      </dsp:nvSpPr>
      <dsp:spPr>
        <a:xfrm>
          <a:off x="4054" y="3578045"/>
          <a:ext cx="2980926" cy="2555006"/>
        </a:xfrm>
        <a:prstGeom prst="rect">
          <a:avLst/>
        </a:prstGeom>
        <a:blipFill>
          <a:blip xmlns:r="http://schemas.openxmlformats.org/officeDocument/2006/relationships" r:embed="rId3"/>
          <a:srcRect/>
          <a:stretch>
            <a:fillRect t="-20000" b="-20000"/>
          </a:stretch>
        </a:blipFill>
        <a:ln>
          <a:noFill/>
        </a:ln>
        <a:effectLst/>
      </dsp:spPr>
      <dsp:style>
        <a:lnRef idx="0">
          <a:scrgbClr r="0" g="0" b="0"/>
        </a:lnRef>
        <a:fillRef idx="1">
          <a:scrgbClr r="0" g="0" b="0"/>
        </a:fillRef>
        <a:effectRef idx="0">
          <a:scrgbClr r="0" g="0" b="0"/>
        </a:effectRef>
        <a:fontRef idx="minor"/>
      </dsp:style>
    </dsp:sp>
    <dsp:sp modelId="{AB53B20B-C6D5-4022-A9C6-6CE1E16884D9}">
      <dsp:nvSpPr>
        <dsp:cNvPr id="0" name=""/>
        <dsp:cNvSpPr/>
      </dsp:nvSpPr>
      <dsp:spPr>
        <a:xfrm>
          <a:off x="4054" y="5494881"/>
          <a:ext cx="2980926" cy="613201"/>
        </a:xfrm>
        <a:prstGeom prst="rect">
          <a:avLst/>
        </a:prstGeom>
        <a:solidFill>
          <a:schemeClr val="accent1">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71120" tIns="71120" rIns="71120" bIns="71120" numCol="1" spcCol="1270" anchor="ctr" anchorCtr="0">
          <a:noAutofit/>
        </a:bodyPr>
        <a:lstStyle/>
        <a:p>
          <a:pPr marL="0" lvl="0" indent="0" algn="ctr" defTabSz="1244600">
            <a:lnSpc>
              <a:spcPct val="90000"/>
            </a:lnSpc>
            <a:spcBef>
              <a:spcPct val="0"/>
            </a:spcBef>
            <a:spcAft>
              <a:spcPct val="35000"/>
            </a:spcAft>
            <a:buNone/>
          </a:pPr>
          <a:r>
            <a:rPr lang="en-US" sz="2800" kern="1200" dirty="0">
              <a:solidFill>
                <a:schemeClr val="tx1"/>
              </a:solidFill>
            </a:rPr>
            <a:t>Taniya Team Leader</a:t>
          </a:r>
        </a:p>
      </dsp:txBody>
      <dsp:txXfrm>
        <a:off x="4054" y="5494881"/>
        <a:ext cx="2980926" cy="613201"/>
      </dsp:txXfrm>
    </dsp:sp>
    <dsp:sp modelId="{195559A7-AD80-4976-A6E3-13710BA98B71}">
      <dsp:nvSpPr>
        <dsp:cNvPr id="0" name=""/>
        <dsp:cNvSpPr/>
      </dsp:nvSpPr>
      <dsp:spPr>
        <a:xfrm>
          <a:off x="3289026" y="3578045"/>
          <a:ext cx="2980926" cy="2555006"/>
        </a:xfrm>
        <a:prstGeom prst="rect">
          <a:avLst/>
        </a:prstGeom>
        <a:blipFill>
          <a:blip xmlns:r="http://schemas.openxmlformats.org/officeDocument/2006/relationships" r:embed="rId4"/>
          <a:srcRect/>
          <a:stretch>
            <a:fillRect t="-24000" b="-24000"/>
          </a:stretch>
        </a:blipFill>
        <a:ln>
          <a:noFill/>
        </a:ln>
        <a:effectLst/>
      </dsp:spPr>
      <dsp:style>
        <a:lnRef idx="0">
          <a:scrgbClr r="0" g="0" b="0"/>
        </a:lnRef>
        <a:fillRef idx="1">
          <a:scrgbClr r="0" g="0" b="0"/>
        </a:fillRef>
        <a:effectRef idx="0">
          <a:scrgbClr r="0" g="0" b="0"/>
        </a:effectRef>
        <a:fontRef idx="minor"/>
      </dsp:style>
    </dsp:sp>
    <dsp:sp modelId="{8D7B03B8-B727-4DB5-ADEC-DDBD2B38903B}">
      <dsp:nvSpPr>
        <dsp:cNvPr id="0" name=""/>
        <dsp:cNvSpPr/>
      </dsp:nvSpPr>
      <dsp:spPr>
        <a:xfrm>
          <a:off x="3289026" y="5510922"/>
          <a:ext cx="2980926" cy="613201"/>
        </a:xfrm>
        <a:prstGeom prst="rect">
          <a:avLst/>
        </a:prstGeom>
        <a:solidFill>
          <a:schemeClr val="accent1">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71120" tIns="71120" rIns="71120" bIns="71120" numCol="1" spcCol="1270" anchor="ctr" anchorCtr="0">
          <a:noAutofit/>
        </a:bodyPr>
        <a:lstStyle/>
        <a:p>
          <a:pPr marL="0" lvl="0" indent="0" algn="ctr" defTabSz="1244600">
            <a:lnSpc>
              <a:spcPct val="90000"/>
            </a:lnSpc>
            <a:spcBef>
              <a:spcPct val="0"/>
            </a:spcBef>
            <a:spcAft>
              <a:spcPct val="35000"/>
            </a:spcAft>
            <a:buNone/>
          </a:pPr>
          <a:r>
            <a:rPr lang="en-US" sz="2800" kern="1200" dirty="0">
              <a:solidFill>
                <a:schemeClr val="tx1"/>
              </a:solidFill>
            </a:rPr>
            <a:t>Alisha</a:t>
          </a:r>
        </a:p>
      </dsp:txBody>
      <dsp:txXfrm>
        <a:off x="3289026" y="5510922"/>
        <a:ext cx="2980926" cy="613201"/>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BendingPictureSemiTransparentText">
  <dgm:title val=""/>
  <dgm:desc val=""/>
  <dgm:catLst>
    <dgm:cat type="picture" pri="7000"/>
    <dgm:cat type="pictureconvert" pri="70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h" fact="1.19"/>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1667"/>
        </dgm:alg>
        <dgm:shape xmlns:r="http://schemas.openxmlformats.org/officeDocument/2006/relationships" r:blip="">
          <dgm:adjLst/>
        </dgm:shape>
        <dgm:constrLst>
          <dgm:constr type="l" for="ch" forName="rect1" refType="w" fact="0"/>
          <dgm:constr type="t" for="ch" forName="rect1" refType="h" fact="0"/>
          <dgm:constr type="w" for="ch" forName="rect1" refType="w"/>
          <dgm:constr type="h" for="ch" forName="rect1" refType="h"/>
          <dgm:constr type="l" for="ch" forName="rect2" refType="w" fact="0"/>
          <dgm:constr type="t" for="ch" forName="rect2" refType="h" fact="0.7"/>
          <dgm:constr type="w" for="ch" forName="rect2" refType="w"/>
          <dgm:constr type="h" for="ch" forName="rect2" refType="h" fact="0.24"/>
        </dgm:constrLst>
        <dgm:layoutNode name="rect1" styleLbl="bgShp">
          <dgm:alg type="sp"/>
          <dgm:shape xmlns:r="http://schemas.openxmlformats.org/officeDocument/2006/relationships" type="rect" r:blip="" blipPhldr="1">
            <dgm:adjLst/>
          </dgm:shape>
          <dgm:presOf/>
        </dgm:layoutNode>
        <dgm:layoutNode name="rect2" styleLbl="trBgShp">
          <dgm:varLst>
            <dgm:bulletEnabled val="1"/>
          </dgm:varLst>
          <dgm:alg type="tx">
            <dgm:param type="txAnchorVertCh" val="mid"/>
          </dgm:alg>
          <dgm:shape xmlns:r="http://schemas.openxmlformats.org/officeDocument/2006/relationships" type="rect" r:blip="">
            <dgm:adjLst/>
          </dgm:shape>
          <dgm:presOf axis="desOrSelf" ptType="nod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59AFEB-6E5A-4A7D-98E6-32DF73DB35B0}" type="datetimeFigureOut">
              <a:rPr lang="en-IN" smtClean="0"/>
              <a:t>12-02-2026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A986DE-82D4-4014-A892-92D86F94D292}" type="slidenum">
              <a:rPr lang="en-IN" smtClean="0"/>
              <a:t>‹#›</a:t>
            </a:fld>
            <a:endParaRPr lang="en-IN"/>
          </a:p>
        </p:txBody>
      </p:sp>
    </p:spTree>
    <p:extLst>
      <p:ext uri="{BB962C8B-B14F-4D97-AF65-F5344CB8AC3E}">
        <p14:creationId xmlns:p14="http://schemas.microsoft.com/office/powerpoint/2010/main" val="32943887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5A986DE-82D4-4014-A892-92D86F94D292}" type="slidenum">
              <a:rPr lang="en-IN" smtClean="0"/>
              <a:t>9</a:t>
            </a:fld>
            <a:endParaRPr lang="en-IN"/>
          </a:p>
        </p:txBody>
      </p:sp>
    </p:spTree>
    <p:extLst>
      <p:ext uri="{BB962C8B-B14F-4D97-AF65-F5344CB8AC3E}">
        <p14:creationId xmlns:p14="http://schemas.microsoft.com/office/powerpoint/2010/main" val="8482276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5A986DE-82D4-4014-A892-92D86F94D292}" type="slidenum">
              <a:rPr lang="en-IN" smtClean="0"/>
              <a:t>16</a:t>
            </a:fld>
            <a:endParaRPr lang="en-IN"/>
          </a:p>
        </p:txBody>
      </p:sp>
    </p:spTree>
    <p:extLst>
      <p:ext uri="{BB962C8B-B14F-4D97-AF65-F5344CB8AC3E}">
        <p14:creationId xmlns:p14="http://schemas.microsoft.com/office/powerpoint/2010/main" val="2856691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Date Placeholder 6"/>
          <p:cNvSpPr>
            <a:spLocks noGrp="1"/>
          </p:cNvSpPr>
          <p:nvPr>
            <p:ph type="dt" sz="half" idx="10"/>
          </p:nvPr>
        </p:nvSpPr>
        <p:spPr/>
        <p:txBody>
          <a:bodyPr/>
          <a:lstStyle/>
          <a:p>
            <a:fld id="{1160EA64-D806-43AC-9DF2-F8C432F32B4C}" type="datetimeFigureOut">
              <a:rPr lang="en-US" dirty="0"/>
              <a:t>2/12/2026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a:p>
        </p:txBody>
      </p:sp>
    </p:spTree>
    <p:extLst>
      <p:ext uri="{BB962C8B-B14F-4D97-AF65-F5344CB8AC3E}">
        <p14:creationId xmlns:p14="http://schemas.microsoft.com/office/powerpoint/2010/main" val="223506541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070A7B3-6521-4DCA-87E5-044747A908C1}" type="datetimeFigureOut">
              <a:rPr lang="en-US" dirty="0"/>
              <a:t>2/12/2026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a:p>
        </p:txBody>
      </p:sp>
    </p:spTree>
    <p:extLst>
      <p:ext uri="{BB962C8B-B14F-4D97-AF65-F5344CB8AC3E}">
        <p14:creationId xmlns:p14="http://schemas.microsoft.com/office/powerpoint/2010/main" val="13122521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1160EA64-D806-43AC-9DF2-F8C432F32B4C}" type="datetimeFigureOut">
              <a:rPr lang="en-US" dirty="0"/>
              <a:t>2/12/2026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a:p>
        </p:txBody>
      </p:sp>
    </p:spTree>
    <p:extLst>
      <p:ext uri="{BB962C8B-B14F-4D97-AF65-F5344CB8AC3E}">
        <p14:creationId xmlns:p14="http://schemas.microsoft.com/office/powerpoint/2010/main" val="233394254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p:cNvSpPr>
            <a:spLocks noGrp="1"/>
          </p:cNvSpPr>
          <p:nvPr>
            <p:ph type="dt" sz="half" idx="10"/>
          </p:nvPr>
        </p:nvSpPr>
        <p:spPr/>
        <p:txBody>
          <a:bodyPr/>
          <a:lstStyle/>
          <a:p>
            <a:fld id="{AB134690-1557-4C89-A502-4959FE7FAD70}" type="datetimeFigureOut">
              <a:rPr lang="en-US" dirty="0"/>
              <a:t>2/12/2026</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a:p>
        </p:txBody>
      </p:sp>
    </p:spTree>
    <p:extLst>
      <p:ext uri="{BB962C8B-B14F-4D97-AF65-F5344CB8AC3E}">
        <p14:creationId xmlns:p14="http://schemas.microsoft.com/office/powerpoint/2010/main" val="30201168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4F7D4976-E339-4826-83B7-FBD03F55ECF8}" type="datetimeFigureOut">
              <a:rPr lang="en-US" dirty="0"/>
              <a:t>2/12/2026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a:p>
        </p:txBody>
      </p:sp>
      <p:sp>
        <p:nvSpPr>
          <p:cNvPr id="10" name="Title 9"/>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343607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1037C31-9E7A-4F99-8774-A0E530DE1A42}" type="datetimeFigureOut">
              <a:rPr lang="en-US" dirty="0"/>
              <a:t>2/12/2026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A7A6979-0714-4377-B894-6BE4C2D6E202}" type="slidenum">
              <a:rPr lang="en-US" dirty="0"/>
              <a:t>‹#›</a:t>
            </a:fld>
            <a:endParaRPr lang="en-US"/>
          </a:p>
        </p:txBody>
      </p:sp>
    </p:spTree>
    <p:extLst>
      <p:ext uri="{BB962C8B-B14F-4D97-AF65-F5344CB8AC3E}">
        <p14:creationId xmlns:p14="http://schemas.microsoft.com/office/powerpoint/2010/main" val="33933149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2/12/2026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A7A6979-0714-4377-B894-6BE4C2D6E202}" type="slidenum">
              <a:rPr lang="en-US" dirty="0"/>
              <a:t>‹#›</a:t>
            </a:fld>
            <a:endParaRPr lang="en-US"/>
          </a:p>
        </p:txBody>
      </p:sp>
    </p:spTree>
    <p:extLst>
      <p:ext uri="{BB962C8B-B14F-4D97-AF65-F5344CB8AC3E}">
        <p14:creationId xmlns:p14="http://schemas.microsoft.com/office/powerpoint/2010/main" val="35527162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D1BE4249-C0D0-4B06-8692-E8BB871AF643}" type="datetimeFigureOut">
              <a:rPr lang="en-US" dirty="0"/>
              <a:t>2/12/2026</a:t>
            </a:fld>
            <a:endParaRPr lang="en-US"/>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8A7A6979-0714-4377-B894-6BE4C2D6E202}" type="slidenum">
              <a:rPr lang="en-US" dirty="0"/>
              <a:t>‹#›</a:t>
            </a:fld>
            <a:endParaRPr lang="en-US"/>
          </a:p>
        </p:txBody>
      </p:sp>
    </p:spTree>
    <p:extLst>
      <p:ext uri="{BB962C8B-B14F-4D97-AF65-F5344CB8AC3E}">
        <p14:creationId xmlns:p14="http://schemas.microsoft.com/office/powerpoint/2010/main" val="19065171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2/12/2026</a:t>
            </a:fld>
            <a:endParaRPr lang="en-US"/>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a:p>
        </p:txBody>
      </p:sp>
    </p:spTree>
    <p:extLst>
      <p:ext uri="{BB962C8B-B14F-4D97-AF65-F5344CB8AC3E}">
        <p14:creationId xmlns:p14="http://schemas.microsoft.com/office/powerpoint/2010/main" val="24225222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9F9C37B-1D36-470B-8223-D6C91242EC14}" type="datetimeFigureOut">
              <a:rPr lang="en-US" dirty="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a:p>
        </p:txBody>
      </p:sp>
    </p:spTree>
    <p:extLst>
      <p:ext uri="{BB962C8B-B14F-4D97-AF65-F5344CB8AC3E}">
        <p14:creationId xmlns:p14="http://schemas.microsoft.com/office/powerpoint/2010/main" val="14486481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7C6F52A-A82B-47A2-A83A-8C4C91F2D59F}" type="datetimeFigureOut">
              <a:rPr lang="en-US" dirty="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a:p>
        </p:txBody>
      </p:sp>
    </p:spTree>
    <p:extLst>
      <p:ext uri="{BB962C8B-B14F-4D97-AF65-F5344CB8AC3E}">
        <p14:creationId xmlns:p14="http://schemas.microsoft.com/office/powerpoint/2010/main" val="24170269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160EA64-D806-43AC-9DF2-F8C432F32B4C}" type="datetimeFigureOut">
              <a:rPr lang="en-US" dirty="0"/>
              <a:t>2/12/2026</a:t>
            </a:fld>
            <a:endParaRPr lang="en-US"/>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pPr/>
              <a:t>‹#›</a:t>
            </a:fld>
            <a:endParaRPr lang="en-US"/>
          </a:p>
        </p:txBody>
      </p:sp>
    </p:spTree>
    <p:extLst>
      <p:ext uri="{BB962C8B-B14F-4D97-AF65-F5344CB8AC3E}">
        <p14:creationId xmlns:p14="http://schemas.microsoft.com/office/powerpoint/2010/main" val="3993068660"/>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1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87D3A4E0-C908-4EA9-ABDF-E82AD6BDEF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6000" cy="6858000"/>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415DF57-098C-4FCB-B7A8-E497E9B6043E}"/>
              </a:ext>
            </a:extLst>
          </p:cNvPr>
          <p:cNvSpPr>
            <a:spLocks noGrp="1"/>
          </p:cNvSpPr>
          <p:nvPr>
            <p:ph type="ctrTitle"/>
          </p:nvPr>
        </p:nvSpPr>
        <p:spPr>
          <a:xfrm>
            <a:off x="1872916" y="2379365"/>
            <a:ext cx="8991600" cy="1692771"/>
          </a:xfrm>
        </p:spPr>
        <p:txBody>
          <a:bodyPr vert="horz" lIns="182880" tIns="182880" rIns="182880" bIns="182880" rtlCol="0">
            <a:normAutofit/>
          </a:bodyPr>
          <a:lstStyle/>
          <a:p>
            <a:r>
              <a:rPr lang="en-US" sz="4400" b="1" kern="1200" cap="all" spc="200" baseline="0" dirty="0">
                <a:solidFill>
                  <a:schemeClr val="accent2">
                    <a:lumMod val="50000"/>
                  </a:schemeClr>
                </a:solidFill>
                <a:latin typeface="Bell MT" panose="02020503060305020303" pitchFamily="18" charset="0"/>
                <a:ea typeface="+mj-ea"/>
                <a:cs typeface="+mj-cs"/>
              </a:rPr>
              <a:t>CA</a:t>
            </a:r>
            <a:r>
              <a:rPr lang="en-US" sz="4400" b="1" dirty="0">
                <a:solidFill>
                  <a:schemeClr val="accent2">
                    <a:lumMod val="50000"/>
                  </a:schemeClr>
                </a:solidFill>
                <a:latin typeface="Bell MT" panose="02020503060305020303" pitchFamily="18" charset="0"/>
              </a:rPr>
              <a:t>PSTONE PROJECT </a:t>
            </a:r>
            <a:endParaRPr lang="en-US" sz="4400" kern="1200" cap="all" spc="200" baseline="0" dirty="0">
              <a:latin typeface="+mj-lt"/>
              <a:ea typeface="+mj-ea"/>
              <a:cs typeface="+mj-cs"/>
            </a:endParaRPr>
          </a:p>
        </p:txBody>
      </p:sp>
    </p:spTree>
    <p:extLst>
      <p:ext uri="{BB962C8B-B14F-4D97-AF65-F5344CB8AC3E}">
        <p14:creationId xmlns:p14="http://schemas.microsoft.com/office/powerpoint/2010/main" val="9805432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FFA30-B272-F66A-5F2C-A22337FD21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D9FF72-5C66-2CDA-AD2B-4ECF2E6555C2}"/>
              </a:ext>
            </a:extLst>
          </p:cNvPr>
          <p:cNvSpPr>
            <a:spLocks noGrp="1"/>
          </p:cNvSpPr>
          <p:nvPr>
            <p:ph type="ctrTitle"/>
          </p:nvPr>
        </p:nvSpPr>
        <p:spPr>
          <a:xfrm>
            <a:off x="1872916" y="2379365"/>
            <a:ext cx="8991600" cy="1692771"/>
          </a:xfrm>
        </p:spPr>
        <p:txBody>
          <a:bodyPr vert="horz" lIns="182880" tIns="182880" rIns="182880" bIns="182880" rtlCol="0">
            <a:normAutofit/>
          </a:bodyPr>
          <a:lstStyle/>
          <a:p>
            <a:r>
              <a:rPr lang="en-US" sz="4400" b="1" dirty="0">
                <a:solidFill>
                  <a:schemeClr val="accent2">
                    <a:lumMod val="50000"/>
                  </a:schemeClr>
                </a:solidFill>
                <a:latin typeface="Bell MT" panose="02020503060305020303" pitchFamily="18" charset="0"/>
              </a:rPr>
              <a:t>AI smart finance assistant</a:t>
            </a:r>
            <a:endParaRPr lang="en-US" sz="4400" kern="1200" cap="all" spc="200" baseline="0" dirty="0">
              <a:latin typeface="+mj-lt"/>
              <a:ea typeface="+mj-ea"/>
              <a:cs typeface="+mj-cs"/>
            </a:endParaRPr>
          </a:p>
        </p:txBody>
      </p:sp>
    </p:spTree>
    <p:extLst>
      <p:ext uri="{BB962C8B-B14F-4D97-AF65-F5344CB8AC3E}">
        <p14:creationId xmlns:p14="http://schemas.microsoft.com/office/powerpoint/2010/main" val="31315433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C86B1-7C33-4A37-A176-9016ACFEE5C4}"/>
              </a:ext>
            </a:extLst>
          </p:cNvPr>
          <p:cNvSpPr>
            <a:spLocks noGrp="1"/>
          </p:cNvSpPr>
          <p:nvPr>
            <p:ph type="title"/>
          </p:nvPr>
        </p:nvSpPr>
        <p:spPr>
          <a:xfrm>
            <a:off x="224815" y="2469660"/>
            <a:ext cx="2858220" cy="1495794"/>
          </a:xfrm>
          <a:solidFill>
            <a:srgbClr val="FFFFFF"/>
          </a:solidFill>
          <a:ln>
            <a:solidFill>
              <a:srgbClr val="262626"/>
            </a:solidFill>
          </a:ln>
        </p:spPr>
        <p:txBody>
          <a:bodyPr/>
          <a:lstStyle/>
          <a:p>
            <a:r>
              <a:rPr lang="en-IN" dirty="0"/>
              <a:t>The Team no.9</a:t>
            </a:r>
          </a:p>
        </p:txBody>
      </p:sp>
      <p:graphicFrame>
        <p:nvGraphicFramePr>
          <p:cNvPr id="5" name="Content Placeholder 2">
            <a:extLst>
              <a:ext uri="{FF2B5EF4-FFF2-40B4-BE49-F238E27FC236}">
                <a16:creationId xmlns:a16="http://schemas.microsoft.com/office/drawing/2014/main" id="{E2F6407E-AAD2-A4D5-4610-A42FBD9CB175}"/>
              </a:ext>
            </a:extLst>
          </p:cNvPr>
          <p:cNvGraphicFramePr>
            <a:graphicFrameLocks noGrp="1"/>
          </p:cNvGraphicFramePr>
          <p:nvPr>
            <p:ph idx="1"/>
          </p:nvPr>
        </p:nvGraphicFramePr>
        <p:xfrm>
          <a:off x="5397501" y="639763"/>
          <a:ext cx="6282310" cy="25675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4" name="Group 3">
            <a:extLst>
              <a:ext uri="{FF2B5EF4-FFF2-40B4-BE49-F238E27FC236}">
                <a16:creationId xmlns:a16="http://schemas.microsoft.com/office/drawing/2014/main" id="{7BCE0D83-DF72-32F8-B5DD-EE783615D5F8}"/>
              </a:ext>
            </a:extLst>
          </p:cNvPr>
          <p:cNvGrpSpPr/>
          <p:nvPr/>
        </p:nvGrpSpPr>
        <p:grpSpPr>
          <a:xfrm>
            <a:off x="3322509" y="2581114"/>
            <a:ext cx="2261631" cy="1252444"/>
            <a:chOff x="0" y="1315097"/>
            <a:chExt cx="2261631" cy="1252444"/>
          </a:xfrm>
          <a:solidFill>
            <a:srgbClr val="9CA383"/>
          </a:solidFill>
        </p:grpSpPr>
        <p:sp>
          <p:nvSpPr>
            <p:cNvPr id="6" name="Rectangle: Rounded Corners 5">
              <a:extLst>
                <a:ext uri="{FF2B5EF4-FFF2-40B4-BE49-F238E27FC236}">
                  <a16:creationId xmlns:a16="http://schemas.microsoft.com/office/drawing/2014/main" id="{3BD57785-5D15-79E9-3ECF-86C512858270}"/>
                </a:ext>
              </a:extLst>
            </p:cNvPr>
            <p:cNvSpPr/>
            <p:nvPr/>
          </p:nvSpPr>
          <p:spPr>
            <a:xfrm>
              <a:off x="0" y="1315097"/>
              <a:ext cx="2261631" cy="1252444"/>
            </a:xfrm>
            <a:prstGeom prst="roundRect">
              <a:avLst/>
            </a:prstGeom>
            <a:grpFill/>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sp>
        <p:sp>
          <p:nvSpPr>
            <p:cNvPr id="7" name="Rectangle: Rounded Corners 4">
              <a:extLst>
                <a:ext uri="{FF2B5EF4-FFF2-40B4-BE49-F238E27FC236}">
                  <a16:creationId xmlns:a16="http://schemas.microsoft.com/office/drawing/2014/main" id="{6E193F18-9816-2134-C79C-11FDD5C0D8D5}"/>
                </a:ext>
              </a:extLst>
            </p:cNvPr>
            <p:cNvSpPr txBox="1"/>
            <p:nvPr/>
          </p:nvSpPr>
          <p:spPr>
            <a:xfrm>
              <a:off x="61139" y="1376236"/>
              <a:ext cx="2139353" cy="1130166"/>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140970" tIns="70485" rIns="140970" bIns="70485" numCol="1" spcCol="1270" anchor="ctr" anchorCtr="0">
              <a:noAutofit/>
            </a:bodyPr>
            <a:lstStyle/>
            <a:p>
              <a:pPr marL="0" lvl="0" indent="0" algn="ctr" defTabSz="1644650">
                <a:lnSpc>
                  <a:spcPct val="90000"/>
                </a:lnSpc>
                <a:spcBef>
                  <a:spcPct val="0"/>
                </a:spcBef>
                <a:spcAft>
                  <a:spcPct val="35000"/>
                </a:spcAft>
                <a:buNone/>
              </a:pPr>
              <a:r>
                <a:rPr lang="en-IN" sz="3700" kern="1200" dirty="0"/>
                <a:t>Student Name</a:t>
              </a:r>
              <a:endParaRPr lang="en-US" sz="3700" kern="1200" dirty="0"/>
            </a:p>
          </p:txBody>
        </p:sp>
      </p:grpSp>
      <p:graphicFrame>
        <p:nvGraphicFramePr>
          <p:cNvPr id="8" name="Diagram 7">
            <a:extLst>
              <a:ext uri="{FF2B5EF4-FFF2-40B4-BE49-F238E27FC236}">
                <a16:creationId xmlns:a16="http://schemas.microsoft.com/office/drawing/2014/main" id="{15E551B8-8529-0A54-59C7-8C5D4BFFE238}"/>
              </a:ext>
            </a:extLst>
          </p:cNvPr>
          <p:cNvGraphicFramePr/>
          <p:nvPr>
            <p:extLst>
              <p:ext uri="{D42A27DB-BD31-4B8C-83A1-F6EECF244321}">
                <p14:modId xmlns:p14="http://schemas.microsoft.com/office/powerpoint/2010/main" val="1051220100"/>
              </p:ext>
            </p:extLst>
          </p:nvPr>
        </p:nvGraphicFramePr>
        <p:xfrm>
          <a:off x="5789657" y="0"/>
          <a:ext cx="6274007" cy="685799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8833501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2AEFFFF2-9EB4-4B6C-B9F8-2BA3EF89A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rgbClr val="4A53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9">
            <a:extLst>
              <a:ext uri="{FF2B5EF4-FFF2-40B4-BE49-F238E27FC236}">
                <a16:creationId xmlns:a16="http://schemas.microsoft.com/office/drawing/2014/main" id="{0D65299F-028F-4AFC-B46A-8DB33E20F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3C86B1-7C33-4A37-A176-9016ACFEE5C4}"/>
              </a:ext>
            </a:extLst>
          </p:cNvPr>
          <p:cNvSpPr>
            <a:spLocks noGrp="1"/>
          </p:cNvSpPr>
          <p:nvPr>
            <p:ph type="title"/>
          </p:nvPr>
        </p:nvSpPr>
        <p:spPr>
          <a:xfrm>
            <a:off x="1260873" y="1586484"/>
            <a:ext cx="3685032" cy="3685032"/>
          </a:xfrm>
          <a:prstGeom prst="ellipse">
            <a:avLst/>
          </a:prstGeom>
          <a:solidFill>
            <a:schemeClr val="accent2">
              <a:lumMod val="75000"/>
            </a:schemeClr>
          </a:solidFill>
          <a:ln>
            <a:noFill/>
          </a:ln>
        </p:spPr>
        <p:txBody>
          <a:bodyPr>
            <a:normAutofit/>
          </a:bodyPr>
          <a:lstStyle/>
          <a:p>
            <a:r>
              <a:rPr lang="en-US" sz="2600">
                <a:solidFill>
                  <a:srgbClr val="FFFFFF"/>
                </a:solidFill>
              </a:rPr>
              <a:t>Workload </a:t>
            </a:r>
            <a:r>
              <a:rPr lang="en-IN" sz="2600">
                <a:solidFill>
                  <a:srgbClr val="FFFFFF"/>
                </a:solidFill>
              </a:rPr>
              <a:t>Division</a:t>
            </a:r>
          </a:p>
        </p:txBody>
      </p:sp>
      <p:sp>
        <p:nvSpPr>
          <p:cNvPr id="3" name="Content Placeholder 2">
            <a:extLst>
              <a:ext uri="{FF2B5EF4-FFF2-40B4-BE49-F238E27FC236}">
                <a16:creationId xmlns:a16="http://schemas.microsoft.com/office/drawing/2014/main" id="{DEFFB6BC-B8A2-4F6A-861D-C36B251B727B}"/>
              </a:ext>
            </a:extLst>
          </p:cNvPr>
          <p:cNvSpPr>
            <a:spLocks noGrp="1"/>
          </p:cNvSpPr>
          <p:nvPr>
            <p:ph idx="1"/>
          </p:nvPr>
        </p:nvSpPr>
        <p:spPr>
          <a:xfrm>
            <a:off x="5358063" y="1402080"/>
            <a:ext cx="6452858" cy="4373078"/>
          </a:xfrm>
        </p:spPr>
        <p:txBody>
          <a:bodyPr anchor="ctr">
            <a:normAutofit fontScale="92500" lnSpcReduction="10000"/>
          </a:bodyPr>
          <a:lstStyle/>
          <a:p>
            <a:r>
              <a:rPr lang="en-IN" sz="4300" b="1" dirty="0"/>
              <a:t>Contribution of each team member in project</a:t>
            </a:r>
          </a:p>
          <a:p>
            <a:endParaRPr lang="en-IN" sz="4300" b="1" dirty="0"/>
          </a:p>
          <a:p>
            <a:pPr lvl="1"/>
            <a:r>
              <a:rPr lang="en-IN" sz="3200" b="1" dirty="0"/>
              <a:t>Taniya </a:t>
            </a:r>
            <a:r>
              <a:rPr lang="en-IN" sz="3200" b="1" dirty="0" err="1"/>
              <a:t>Dhingiya</a:t>
            </a:r>
            <a:r>
              <a:rPr lang="en-IN" sz="3200" b="1" dirty="0"/>
              <a:t> </a:t>
            </a:r>
            <a:r>
              <a:rPr lang="en-IN" sz="3100" dirty="0"/>
              <a:t>= PPT</a:t>
            </a:r>
            <a:endParaRPr lang="en-IN" sz="2800" dirty="0"/>
          </a:p>
          <a:p>
            <a:pPr lvl="1"/>
            <a:r>
              <a:rPr lang="en-IN" sz="3200" b="1" dirty="0"/>
              <a:t>Faiza</a:t>
            </a:r>
            <a:r>
              <a:rPr lang="en-IN" sz="2800" dirty="0"/>
              <a:t> = Coding</a:t>
            </a:r>
          </a:p>
          <a:p>
            <a:pPr lvl="1"/>
            <a:r>
              <a:rPr lang="en-IN" sz="3200" b="1" dirty="0"/>
              <a:t>Alisha</a:t>
            </a:r>
            <a:r>
              <a:rPr lang="en-IN" sz="2800" dirty="0"/>
              <a:t> = Report </a:t>
            </a:r>
          </a:p>
          <a:p>
            <a:pPr lvl="1"/>
            <a:r>
              <a:rPr lang="en-IN" sz="3200" b="1" dirty="0"/>
              <a:t>Kanak</a:t>
            </a:r>
            <a:r>
              <a:rPr lang="en-IN" sz="2800" b="1" dirty="0"/>
              <a:t> </a:t>
            </a:r>
            <a:r>
              <a:rPr lang="en-IN" sz="2800" dirty="0"/>
              <a:t>= Video Editing</a:t>
            </a:r>
            <a:br>
              <a:rPr lang="en-IN" dirty="0"/>
            </a:br>
            <a:r>
              <a:rPr lang="en-IN" dirty="0"/>
              <a:t>         </a:t>
            </a:r>
          </a:p>
        </p:txBody>
      </p:sp>
    </p:spTree>
    <p:extLst>
      <p:ext uri="{BB962C8B-B14F-4D97-AF65-F5344CB8AC3E}">
        <p14:creationId xmlns:p14="http://schemas.microsoft.com/office/powerpoint/2010/main" val="2277255098"/>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2AEFFFF2-9EB4-4B6C-B9F8-2BA3EF89A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7" name="Rectangle 26">
            <a:extLst>
              <a:ext uri="{FF2B5EF4-FFF2-40B4-BE49-F238E27FC236}">
                <a16:creationId xmlns:a16="http://schemas.microsoft.com/office/drawing/2014/main" id="{0D65299F-028F-4AFC-B46A-8DB33E20F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3C86B1-7C33-4A37-A176-9016ACFEE5C4}"/>
              </a:ext>
            </a:extLst>
          </p:cNvPr>
          <p:cNvSpPr>
            <a:spLocks noGrp="1"/>
          </p:cNvSpPr>
          <p:nvPr>
            <p:ph type="title"/>
          </p:nvPr>
        </p:nvSpPr>
        <p:spPr>
          <a:xfrm>
            <a:off x="1260873" y="1586484"/>
            <a:ext cx="3685032" cy="3685032"/>
          </a:xfrm>
          <a:prstGeom prst="ellipse">
            <a:avLst/>
          </a:prstGeom>
          <a:solidFill>
            <a:schemeClr val="accent2">
              <a:lumMod val="75000"/>
            </a:schemeClr>
          </a:solidFill>
          <a:ln>
            <a:noFill/>
          </a:ln>
        </p:spPr>
        <p:txBody>
          <a:bodyPr>
            <a:normAutofit/>
          </a:bodyPr>
          <a:lstStyle/>
          <a:p>
            <a:r>
              <a:rPr lang="en-IN" sz="3200" b="1" dirty="0">
                <a:solidFill>
                  <a:srgbClr val="FFFFFF"/>
                </a:solidFill>
              </a:rPr>
              <a:t>PROJECT THEME</a:t>
            </a:r>
          </a:p>
        </p:txBody>
      </p:sp>
      <p:sp>
        <p:nvSpPr>
          <p:cNvPr id="4" name="TextBox 3">
            <a:extLst>
              <a:ext uri="{FF2B5EF4-FFF2-40B4-BE49-F238E27FC236}">
                <a16:creationId xmlns:a16="http://schemas.microsoft.com/office/drawing/2014/main" id="{A313C6ED-AD76-F4AC-9BEA-5AB8B5E65D6E}"/>
              </a:ext>
            </a:extLst>
          </p:cNvPr>
          <p:cNvSpPr txBox="1"/>
          <p:nvPr/>
        </p:nvSpPr>
        <p:spPr>
          <a:xfrm>
            <a:off x="5324650" y="391544"/>
            <a:ext cx="2753436" cy="736677"/>
          </a:xfrm>
          <a:prstGeom prst="rect">
            <a:avLst/>
          </a:prstGeom>
          <a:noFill/>
        </p:spPr>
        <p:txBody>
          <a:bodyPr wrap="square">
            <a:spAutoFit/>
          </a:bodyPr>
          <a:lstStyle/>
          <a:p>
            <a:pPr>
              <a:lnSpc>
                <a:spcPct val="115000"/>
              </a:lnSpc>
              <a:spcAft>
                <a:spcPts val="1000"/>
              </a:spcAft>
              <a:buNone/>
            </a:pPr>
            <a:r>
              <a:rPr lang="en-IN" sz="4000" b="1" dirty="0">
                <a:solidFill>
                  <a:srgbClr val="000000"/>
                </a:solidFill>
                <a:effectLst/>
                <a:latin typeface="Century Gothic" panose="020B0502020202020204" pitchFamily="34" charset="0"/>
                <a:ea typeface="Times New Roman" panose="02020603050405020304" pitchFamily="18" charset="0"/>
                <a:cs typeface="Times New Roman" panose="02020603050405020304" pitchFamily="18" charset="0"/>
              </a:rPr>
              <a:t>Finance</a:t>
            </a:r>
            <a:endParaRPr lang="en-IN" sz="4000" dirty="0">
              <a:effectLst/>
              <a:latin typeface="Century Gothic" panose="020B0502020202020204" pitchFamily="34" charset="0"/>
              <a:ea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89C713FB-B0F7-7A06-A31A-CD3167DBF9EF}"/>
              </a:ext>
            </a:extLst>
          </p:cNvPr>
          <p:cNvSpPr txBox="1"/>
          <p:nvPr/>
        </p:nvSpPr>
        <p:spPr>
          <a:xfrm>
            <a:off x="5324650" y="1336348"/>
            <a:ext cx="6093724" cy="1019574"/>
          </a:xfrm>
          <a:prstGeom prst="rect">
            <a:avLst/>
          </a:prstGeom>
          <a:noFill/>
        </p:spPr>
        <p:txBody>
          <a:bodyPr wrap="square">
            <a:spAutoFit/>
          </a:bodyPr>
          <a:lstStyle/>
          <a:p>
            <a:pPr>
              <a:lnSpc>
                <a:spcPct val="115000"/>
              </a:lnSpc>
              <a:spcAft>
                <a:spcPts val="1000"/>
              </a:spcAft>
              <a:buNone/>
            </a:pPr>
            <a:r>
              <a:rPr lang="en-IN" sz="1800" dirty="0">
                <a:effectLst/>
                <a:latin typeface="Century Gothic" panose="020B0502020202020204" pitchFamily="34" charset="0"/>
                <a:ea typeface="Times New Roman" panose="02020603050405020304" pitchFamily="18" charset="0"/>
                <a:cs typeface="Times New Roman" panose="02020603050405020304" pitchFamily="18" charset="0"/>
              </a:rPr>
              <a:t>This project belongs to the finance domain and focuses on simplifying financial management using Artificial Intelligence. </a:t>
            </a:r>
          </a:p>
        </p:txBody>
      </p:sp>
      <p:pic>
        <p:nvPicPr>
          <p:cNvPr id="9" name="Picture 2" descr="Project Finance Report || Best Sharda ...">
            <a:extLst>
              <a:ext uri="{FF2B5EF4-FFF2-40B4-BE49-F238E27FC236}">
                <a16:creationId xmlns:a16="http://schemas.microsoft.com/office/drawing/2014/main" id="{62E4EDD7-7241-5377-3E9F-2B7CA5A48F6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406538" y="2564049"/>
            <a:ext cx="6510146" cy="36456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47115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2AEFFFF2-9EB4-4B6C-B9F8-2BA3EF89A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1" name="Rectangle 20">
            <a:extLst>
              <a:ext uri="{FF2B5EF4-FFF2-40B4-BE49-F238E27FC236}">
                <a16:creationId xmlns:a16="http://schemas.microsoft.com/office/drawing/2014/main" id="{0D65299F-028F-4AFC-B46A-8DB33E20F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B94EB9-4981-4B64-BA7E-735F6CAD4324}"/>
              </a:ext>
            </a:extLst>
          </p:cNvPr>
          <p:cNvSpPr>
            <a:spLocks noGrp="1"/>
          </p:cNvSpPr>
          <p:nvPr>
            <p:ph type="title"/>
          </p:nvPr>
        </p:nvSpPr>
        <p:spPr>
          <a:xfrm>
            <a:off x="1260873" y="1586484"/>
            <a:ext cx="3685032" cy="3685032"/>
          </a:xfrm>
          <a:prstGeom prst="ellipse">
            <a:avLst/>
          </a:prstGeom>
          <a:solidFill>
            <a:schemeClr val="accent2">
              <a:lumMod val="75000"/>
            </a:schemeClr>
          </a:solidFill>
          <a:ln>
            <a:noFill/>
          </a:ln>
        </p:spPr>
        <p:txBody>
          <a:bodyPr>
            <a:normAutofit/>
          </a:bodyPr>
          <a:lstStyle/>
          <a:p>
            <a:r>
              <a:rPr lang="en-IN" sz="2400" b="1" dirty="0">
                <a:solidFill>
                  <a:srgbClr val="FFFFFF"/>
                </a:solidFill>
              </a:rPr>
              <a:t>Problem Statement</a:t>
            </a:r>
          </a:p>
        </p:txBody>
      </p:sp>
      <p:sp>
        <p:nvSpPr>
          <p:cNvPr id="3" name="Content Placeholder 2">
            <a:extLst>
              <a:ext uri="{FF2B5EF4-FFF2-40B4-BE49-F238E27FC236}">
                <a16:creationId xmlns:a16="http://schemas.microsoft.com/office/drawing/2014/main" id="{2473D968-550A-45A2-B636-4D6F7BFB4421}"/>
              </a:ext>
            </a:extLst>
          </p:cNvPr>
          <p:cNvSpPr>
            <a:spLocks noGrp="1"/>
          </p:cNvSpPr>
          <p:nvPr>
            <p:ph idx="1"/>
          </p:nvPr>
        </p:nvSpPr>
        <p:spPr>
          <a:xfrm>
            <a:off x="5245241" y="300546"/>
            <a:ext cx="6790872" cy="5622876"/>
          </a:xfrm>
        </p:spPr>
        <p:txBody>
          <a:bodyPr anchor="ctr">
            <a:noAutofit/>
          </a:bodyPr>
          <a:lstStyle/>
          <a:p>
            <a:pPr marL="0" indent="0">
              <a:buNone/>
            </a:pPr>
            <a:r>
              <a:rPr lang="en-US" sz="2400" b="1" dirty="0"/>
              <a:t>     </a:t>
            </a:r>
            <a:endParaRPr lang="en-US" sz="2400" dirty="0"/>
          </a:p>
          <a:p>
            <a:pPr marL="0" indent="0">
              <a:buNone/>
            </a:pPr>
            <a:r>
              <a:rPr lang="en-IN" sz="2400" dirty="0"/>
              <a:t>Many people find finance confusing and difficult to manage.</a:t>
            </a:r>
          </a:p>
          <a:p>
            <a:pPr marL="0" indent="0">
              <a:buNone/>
            </a:pPr>
            <a:r>
              <a:rPr lang="en-IN" sz="2400" dirty="0"/>
              <a:t>They struggle with:</a:t>
            </a:r>
          </a:p>
          <a:p>
            <a:pPr marL="0" indent="0">
              <a:buNone/>
            </a:pPr>
            <a:r>
              <a:rPr lang="en-IN" sz="2400" dirty="0"/>
              <a:t> </a:t>
            </a:r>
          </a:p>
          <a:p>
            <a:pPr marL="0" indent="0">
              <a:buNone/>
            </a:pPr>
            <a:r>
              <a:rPr lang="en-IN" sz="2400" dirty="0"/>
              <a:t>* Understanding income and expenses</a:t>
            </a:r>
          </a:p>
          <a:p>
            <a:pPr marL="0" indent="0">
              <a:buNone/>
            </a:pPr>
            <a:r>
              <a:rPr lang="en-IN" sz="2400" dirty="0"/>
              <a:t>* Planning budgets</a:t>
            </a:r>
          </a:p>
          <a:p>
            <a:pPr marL="0" indent="0">
              <a:buNone/>
            </a:pPr>
            <a:r>
              <a:rPr lang="en-IN" sz="2400" dirty="0"/>
              <a:t>* Saving money</a:t>
            </a:r>
          </a:p>
          <a:p>
            <a:pPr marL="0" indent="0">
              <a:buNone/>
            </a:pPr>
            <a:r>
              <a:rPr lang="en-IN" sz="2400" dirty="0"/>
              <a:t>* Making basic financial decisions</a:t>
            </a:r>
          </a:p>
          <a:p>
            <a:pPr marL="0" indent="0">
              <a:buNone/>
            </a:pPr>
            <a:r>
              <a:rPr lang="en-IN" sz="2400" dirty="0"/>
              <a:t>Because of this, people often make poor financial choices or avoid financial planning altogether. There is a need for a *simple, intelligent system* that can guide users in an easy and friendly way.</a:t>
            </a:r>
          </a:p>
          <a:p>
            <a:pPr marL="0" indent="0">
              <a:buNone/>
            </a:pPr>
            <a:endParaRPr lang="en-IN" sz="2400" dirty="0"/>
          </a:p>
        </p:txBody>
      </p:sp>
    </p:spTree>
    <p:extLst>
      <p:ext uri="{BB962C8B-B14F-4D97-AF65-F5344CB8AC3E}">
        <p14:creationId xmlns:p14="http://schemas.microsoft.com/office/powerpoint/2010/main" val="1023676988"/>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AEFFFF2-9EB4-4B6C-B9F8-2BA3EF89A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D65299F-028F-4AFC-B46A-8DB33E20F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B347B7-4FBF-466B-B290-31F20EBCD3F1}"/>
              </a:ext>
            </a:extLst>
          </p:cNvPr>
          <p:cNvSpPr>
            <a:spLocks noGrp="1"/>
          </p:cNvSpPr>
          <p:nvPr>
            <p:ph type="title"/>
          </p:nvPr>
        </p:nvSpPr>
        <p:spPr>
          <a:xfrm>
            <a:off x="1260873" y="1586484"/>
            <a:ext cx="3685032" cy="3685032"/>
          </a:xfrm>
          <a:prstGeom prst="ellipse">
            <a:avLst/>
          </a:prstGeom>
          <a:solidFill>
            <a:schemeClr val="accent2">
              <a:lumMod val="75000"/>
            </a:schemeClr>
          </a:solidFill>
          <a:ln>
            <a:noFill/>
          </a:ln>
        </p:spPr>
        <p:txBody>
          <a:bodyPr>
            <a:normAutofit/>
          </a:bodyPr>
          <a:lstStyle/>
          <a:p>
            <a:r>
              <a:rPr lang="en-IN" sz="3000" dirty="0">
                <a:solidFill>
                  <a:srgbClr val="FFFFFF"/>
                </a:solidFill>
              </a:rPr>
              <a:t>Project overview</a:t>
            </a:r>
          </a:p>
        </p:txBody>
      </p:sp>
      <p:sp>
        <p:nvSpPr>
          <p:cNvPr id="7" name="TextBox 6">
            <a:extLst>
              <a:ext uri="{FF2B5EF4-FFF2-40B4-BE49-F238E27FC236}">
                <a16:creationId xmlns:a16="http://schemas.microsoft.com/office/drawing/2014/main" id="{3825F2AF-E55B-6316-5212-165580167974}"/>
              </a:ext>
            </a:extLst>
          </p:cNvPr>
          <p:cNvSpPr txBox="1"/>
          <p:nvPr/>
        </p:nvSpPr>
        <p:spPr>
          <a:xfrm>
            <a:off x="5390462" y="268818"/>
            <a:ext cx="6093724" cy="5974264"/>
          </a:xfrm>
          <a:prstGeom prst="rect">
            <a:avLst/>
          </a:prstGeom>
          <a:noFill/>
        </p:spPr>
        <p:txBody>
          <a:bodyPr wrap="square">
            <a:spAutoFit/>
          </a:bodyPr>
          <a:lstStyle/>
          <a:p>
            <a:pPr>
              <a:lnSpc>
                <a:spcPct val="115000"/>
              </a:lnSpc>
              <a:spcAft>
                <a:spcPts val="1000"/>
              </a:spcAft>
              <a:buNone/>
            </a:pPr>
            <a:r>
              <a:rPr lang="en-IN" sz="1800" dirty="0">
                <a:effectLst/>
                <a:latin typeface="Century Gothic" panose="020B0502020202020204" pitchFamily="34" charset="0"/>
                <a:ea typeface="Times New Roman" panose="02020603050405020304" pitchFamily="18" charset="0"/>
                <a:cs typeface="Times New Roman" panose="02020603050405020304" pitchFamily="18" charset="0"/>
              </a:rPr>
              <a:t>*AI Smart Finance Assistant* is a finance-based project that uses *Generative Artificial Intelligence* to help people understand and manage their finances easily.</a:t>
            </a:r>
          </a:p>
          <a:p>
            <a:pPr>
              <a:lnSpc>
                <a:spcPct val="115000"/>
              </a:lnSpc>
              <a:spcAft>
                <a:spcPts val="1000"/>
              </a:spcAft>
              <a:buNone/>
            </a:pPr>
            <a:r>
              <a:rPr lang="en-IN" sz="1800" dirty="0">
                <a:effectLst/>
                <a:latin typeface="Century Gothic" panose="020B0502020202020204" pitchFamily="34" charset="0"/>
                <a:ea typeface="Times New Roman" panose="02020603050405020304" pitchFamily="18" charset="0"/>
                <a:cs typeface="Times New Roman" panose="02020603050405020304" pitchFamily="18" charset="0"/>
              </a:rPr>
              <a:t> </a:t>
            </a:r>
          </a:p>
          <a:p>
            <a:pPr>
              <a:lnSpc>
                <a:spcPct val="115000"/>
              </a:lnSpc>
              <a:spcAft>
                <a:spcPts val="1000"/>
              </a:spcAft>
              <a:buNone/>
            </a:pPr>
            <a:r>
              <a:rPr lang="en-IN" sz="1800" dirty="0">
                <a:effectLst/>
                <a:latin typeface="Century Gothic" panose="020B0502020202020204" pitchFamily="34" charset="0"/>
                <a:ea typeface="Times New Roman" panose="02020603050405020304" pitchFamily="18" charset="0"/>
                <a:cs typeface="Times New Roman" panose="02020603050405020304" pitchFamily="18" charset="0"/>
              </a:rPr>
              <a:t>The system interacts with users in *simple English*, analyses their financial data, and provides:</a:t>
            </a:r>
          </a:p>
          <a:p>
            <a:pPr>
              <a:lnSpc>
                <a:spcPct val="115000"/>
              </a:lnSpc>
              <a:spcAft>
                <a:spcPts val="1000"/>
              </a:spcAft>
              <a:buNone/>
            </a:pPr>
            <a:r>
              <a:rPr lang="en-IN" sz="1800" dirty="0">
                <a:effectLst/>
                <a:latin typeface="Century Gothic" panose="020B0502020202020204" pitchFamily="34" charset="0"/>
                <a:ea typeface="Times New Roman" panose="02020603050405020304" pitchFamily="18" charset="0"/>
                <a:cs typeface="Times New Roman" panose="02020603050405020304" pitchFamily="18" charset="0"/>
              </a:rPr>
              <a:t> </a:t>
            </a:r>
          </a:p>
          <a:p>
            <a:pPr>
              <a:lnSpc>
                <a:spcPct val="115000"/>
              </a:lnSpc>
              <a:spcAft>
                <a:spcPts val="1000"/>
              </a:spcAft>
              <a:buNone/>
            </a:pPr>
            <a:r>
              <a:rPr lang="en-IN" sz="1800" dirty="0">
                <a:effectLst/>
                <a:latin typeface="Century Gothic" panose="020B0502020202020204" pitchFamily="34" charset="0"/>
                <a:ea typeface="Times New Roman" panose="02020603050405020304" pitchFamily="18" charset="0"/>
                <a:cs typeface="Times New Roman" panose="02020603050405020304" pitchFamily="18" charset="0"/>
              </a:rPr>
              <a:t>* Easy explanations</a:t>
            </a:r>
          </a:p>
          <a:p>
            <a:pPr>
              <a:lnSpc>
                <a:spcPct val="115000"/>
              </a:lnSpc>
              <a:spcAft>
                <a:spcPts val="1000"/>
              </a:spcAft>
              <a:buNone/>
            </a:pPr>
            <a:r>
              <a:rPr lang="en-IN" sz="1800" dirty="0">
                <a:effectLst/>
                <a:latin typeface="Century Gothic" panose="020B0502020202020204" pitchFamily="34" charset="0"/>
                <a:ea typeface="Times New Roman" panose="02020603050405020304" pitchFamily="18" charset="0"/>
                <a:cs typeface="Times New Roman" panose="02020603050405020304" pitchFamily="18" charset="0"/>
              </a:rPr>
              <a:t>* Smart </a:t>
            </a:r>
            <a:r>
              <a:rPr lang="en-IN" sz="2400" dirty="0">
                <a:effectLst/>
                <a:latin typeface="Century Gothic" panose="020B0502020202020204" pitchFamily="34" charset="0"/>
                <a:ea typeface="Times New Roman" panose="02020603050405020304" pitchFamily="18" charset="0"/>
                <a:cs typeface="Times New Roman" panose="02020603050405020304" pitchFamily="18" charset="0"/>
              </a:rPr>
              <a:t>suggestions</a:t>
            </a:r>
          </a:p>
          <a:p>
            <a:pPr>
              <a:lnSpc>
                <a:spcPct val="115000"/>
              </a:lnSpc>
              <a:spcAft>
                <a:spcPts val="1000"/>
              </a:spcAft>
              <a:buNone/>
            </a:pPr>
            <a:r>
              <a:rPr lang="en-IN" sz="1800" dirty="0">
                <a:effectLst/>
                <a:latin typeface="Century Gothic" panose="020B0502020202020204" pitchFamily="34" charset="0"/>
                <a:ea typeface="Times New Roman" panose="02020603050405020304" pitchFamily="18" charset="0"/>
                <a:cs typeface="Times New Roman" panose="02020603050405020304" pitchFamily="18" charset="0"/>
              </a:rPr>
              <a:t>* Personalized financial guidance</a:t>
            </a:r>
          </a:p>
          <a:p>
            <a:pPr>
              <a:lnSpc>
                <a:spcPct val="115000"/>
              </a:lnSpc>
              <a:spcAft>
                <a:spcPts val="1000"/>
              </a:spcAft>
              <a:buNone/>
            </a:pPr>
            <a:r>
              <a:rPr lang="en-IN" sz="1800" dirty="0">
                <a:effectLst/>
                <a:latin typeface="Century Gothic" panose="020B0502020202020204" pitchFamily="34" charset="0"/>
                <a:ea typeface="Times New Roman" panose="02020603050405020304" pitchFamily="18" charset="0"/>
                <a:cs typeface="Times New Roman" panose="02020603050405020304" pitchFamily="18" charset="0"/>
              </a:rPr>
              <a:t> </a:t>
            </a:r>
          </a:p>
          <a:p>
            <a:pPr>
              <a:lnSpc>
                <a:spcPct val="115000"/>
              </a:lnSpc>
              <a:spcAft>
                <a:spcPts val="1000"/>
              </a:spcAft>
              <a:buNone/>
            </a:pPr>
            <a:r>
              <a:rPr lang="en-IN" sz="1800" dirty="0">
                <a:effectLst/>
                <a:latin typeface="Century Gothic" panose="020B0502020202020204" pitchFamily="34" charset="0"/>
                <a:ea typeface="Times New Roman" panose="02020603050405020304" pitchFamily="18" charset="0"/>
                <a:cs typeface="Times New Roman" panose="02020603050405020304" pitchFamily="18" charset="0"/>
              </a:rPr>
              <a:t>The goal of this project is to *remove fear and confusion from finance* and make financial management easy for everyone.</a:t>
            </a:r>
          </a:p>
        </p:txBody>
      </p:sp>
    </p:spTree>
    <p:extLst>
      <p:ext uri="{BB962C8B-B14F-4D97-AF65-F5344CB8AC3E}">
        <p14:creationId xmlns:p14="http://schemas.microsoft.com/office/powerpoint/2010/main" val="17411871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AEFFFF2-9EB4-4B6C-B9F8-2BA3EF89A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D65299F-028F-4AFC-B46A-8DB33E20F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7D89FB-6AE0-4387-B7C5-B6BE39BA7579}"/>
              </a:ext>
            </a:extLst>
          </p:cNvPr>
          <p:cNvSpPr>
            <a:spLocks noGrp="1"/>
          </p:cNvSpPr>
          <p:nvPr>
            <p:ph type="title"/>
          </p:nvPr>
        </p:nvSpPr>
        <p:spPr>
          <a:xfrm>
            <a:off x="1260873" y="1586484"/>
            <a:ext cx="3685032" cy="3685032"/>
          </a:xfrm>
          <a:prstGeom prst="ellipse">
            <a:avLst/>
          </a:prstGeom>
          <a:solidFill>
            <a:schemeClr val="accent2">
              <a:lumMod val="75000"/>
            </a:schemeClr>
          </a:solidFill>
          <a:ln>
            <a:noFill/>
          </a:ln>
        </p:spPr>
        <p:txBody>
          <a:bodyPr>
            <a:normAutofit/>
          </a:bodyPr>
          <a:lstStyle/>
          <a:p>
            <a:r>
              <a:rPr lang="en-IN" dirty="0">
                <a:solidFill>
                  <a:srgbClr val="FFFFFF"/>
                </a:solidFill>
              </a:rPr>
              <a:t>Objectives of the project</a:t>
            </a:r>
          </a:p>
        </p:txBody>
      </p:sp>
      <p:sp>
        <p:nvSpPr>
          <p:cNvPr id="7" name="TextBox 6">
            <a:extLst>
              <a:ext uri="{FF2B5EF4-FFF2-40B4-BE49-F238E27FC236}">
                <a16:creationId xmlns:a16="http://schemas.microsoft.com/office/drawing/2014/main" id="{3C60C24F-6E89-2F82-CBFE-ABD6B80C8399}"/>
              </a:ext>
            </a:extLst>
          </p:cNvPr>
          <p:cNvSpPr txBox="1"/>
          <p:nvPr/>
        </p:nvSpPr>
        <p:spPr>
          <a:xfrm>
            <a:off x="5541752" y="281170"/>
            <a:ext cx="6197851" cy="5920660"/>
          </a:xfrm>
          <a:prstGeom prst="rect">
            <a:avLst/>
          </a:prstGeom>
          <a:noFill/>
        </p:spPr>
        <p:txBody>
          <a:bodyPr wrap="square">
            <a:spAutoFit/>
          </a:bodyPr>
          <a:lstStyle/>
          <a:p>
            <a:pPr>
              <a:lnSpc>
                <a:spcPct val="115000"/>
              </a:lnSpc>
              <a:spcAft>
                <a:spcPts val="1000"/>
              </a:spcAft>
              <a:buNone/>
            </a:pPr>
            <a:r>
              <a:rPr lang="en-IN" sz="2400" dirty="0">
                <a:effectLst/>
                <a:latin typeface="Century Gothic" panose="020B0502020202020204" pitchFamily="34" charset="0"/>
                <a:ea typeface="Times New Roman" panose="02020603050405020304" pitchFamily="18" charset="0"/>
                <a:cs typeface="Times New Roman" panose="02020603050405020304" pitchFamily="18" charset="0"/>
              </a:rPr>
              <a:t>The main objectives are:</a:t>
            </a:r>
          </a:p>
          <a:p>
            <a:pPr>
              <a:lnSpc>
                <a:spcPct val="115000"/>
              </a:lnSpc>
              <a:spcAft>
                <a:spcPts val="1000"/>
              </a:spcAft>
              <a:buNone/>
            </a:pPr>
            <a:r>
              <a:rPr lang="en-IN" sz="2400" dirty="0">
                <a:effectLst/>
                <a:latin typeface="Century Gothic" panose="020B0502020202020204" pitchFamily="34" charset="0"/>
                <a:ea typeface="Times New Roman" panose="02020603050405020304" pitchFamily="18" charset="0"/>
                <a:cs typeface="Times New Roman" panose="02020603050405020304" pitchFamily="18" charset="0"/>
              </a:rPr>
              <a:t> </a:t>
            </a:r>
          </a:p>
          <a:p>
            <a:pPr>
              <a:lnSpc>
                <a:spcPct val="115000"/>
              </a:lnSpc>
              <a:spcAft>
                <a:spcPts val="1000"/>
              </a:spcAft>
              <a:buNone/>
            </a:pPr>
            <a:r>
              <a:rPr lang="en-IN" sz="2400" dirty="0">
                <a:effectLst/>
                <a:latin typeface="Century Gothic" panose="020B0502020202020204" pitchFamily="34" charset="0"/>
                <a:ea typeface="Times New Roman" panose="02020603050405020304" pitchFamily="18" charset="0"/>
                <a:cs typeface="Times New Roman" panose="02020603050405020304" pitchFamily="18" charset="0"/>
              </a:rPr>
              <a:t>1. To simplify complex financial concepts</a:t>
            </a:r>
          </a:p>
          <a:p>
            <a:pPr>
              <a:lnSpc>
                <a:spcPct val="115000"/>
              </a:lnSpc>
              <a:spcAft>
                <a:spcPts val="1000"/>
              </a:spcAft>
              <a:buNone/>
            </a:pPr>
            <a:r>
              <a:rPr lang="en-IN" sz="2400" dirty="0">
                <a:effectLst/>
                <a:latin typeface="Century Gothic" panose="020B0502020202020204" pitchFamily="34" charset="0"/>
                <a:ea typeface="Times New Roman" panose="02020603050405020304" pitchFamily="18" charset="0"/>
                <a:cs typeface="Times New Roman" panose="02020603050405020304" pitchFamily="18" charset="0"/>
              </a:rPr>
              <a:t>2. To help users manage income and expenses</a:t>
            </a:r>
          </a:p>
          <a:p>
            <a:pPr>
              <a:lnSpc>
                <a:spcPct val="115000"/>
              </a:lnSpc>
              <a:spcAft>
                <a:spcPts val="1000"/>
              </a:spcAft>
              <a:buNone/>
            </a:pPr>
            <a:r>
              <a:rPr lang="en-IN" sz="2400" dirty="0">
                <a:effectLst/>
                <a:latin typeface="Century Gothic" panose="020B0502020202020204" pitchFamily="34" charset="0"/>
                <a:ea typeface="Times New Roman" panose="02020603050405020304" pitchFamily="18" charset="0"/>
                <a:cs typeface="Times New Roman" panose="02020603050405020304" pitchFamily="18" charset="0"/>
              </a:rPr>
              <a:t>3. To provide smart budgeting and saving suggestions</a:t>
            </a:r>
          </a:p>
          <a:p>
            <a:pPr>
              <a:lnSpc>
                <a:spcPct val="115000"/>
              </a:lnSpc>
              <a:spcAft>
                <a:spcPts val="1000"/>
              </a:spcAft>
              <a:buNone/>
            </a:pPr>
            <a:r>
              <a:rPr lang="en-IN" sz="2400" dirty="0">
                <a:effectLst/>
                <a:latin typeface="Century Gothic" panose="020B0502020202020204" pitchFamily="34" charset="0"/>
                <a:ea typeface="Times New Roman" panose="02020603050405020304" pitchFamily="18" charset="0"/>
                <a:cs typeface="Times New Roman" panose="02020603050405020304" pitchFamily="18" charset="0"/>
              </a:rPr>
              <a:t>4. To use AI for personalized financial guidance</a:t>
            </a:r>
          </a:p>
          <a:p>
            <a:pPr>
              <a:lnSpc>
                <a:spcPct val="115000"/>
              </a:lnSpc>
              <a:spcAft>
                <a:spcPts val="1000"/>
              </a:spcAft>
              <a:buNone/>
            </a:pPr>
            <a:r>
              <a:rPr lang="en-IN" sz="2400" dirty="0">
                <a:effectLst/>
                <a:latin typeface="Century Gothic" panose="020B0502020202020204" pitchFamily="34" charset="0"/>
                <a:ea typeface="Times New Roman" panose="02020603050405020304" pitchFamily="18" charset="0"/>
                <a:cs typeface="Times New Roman" panose="02020603050405020304" pitchFamily="18" charset="0"/>
              </a:rPr>
              <a:t>5. To improve financial awareness and decision-making</a:t>
            </a:r>
          </a:p>
        </p:txBody>
      </p:sp>
    </p:spTree>
    <p:extLst>
      <p:ext uri="{BB962C8B-B14F-4D97-AF65-F5344CB8AC3E}">
        <p14:creationId xmlns:p14="http://schemas.microsoft.com/office/powerpoint/2010/main" val="3081956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AEFFFF2-9EB4-4B6C-B9F8-2BA3EF89A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D65299F-028F-4AFC-B46A-8DB33E20F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62218D5-F128-490E-8152-7D32E2A4AAF2}"/>
              </a:ext>
            </a:extLst>
          </p:cNvPr>
          <p:cNvSpPr>
            <a:spLocks noGrp="1"/>
          </p:cNvSpPr>
          <p:nvPr>
            <p:ph type="title"/>
          </p:nvPr>
        </p:nvSpPr>
        <p:spPr>
          <a:xfrm>
            <a:off x="1260873" y="1586484"/>
            <a:ext cx="3685032" cy="3685032"/>
          </a:xfrm>
          <a:prstGeom prst="ellipse">
            <a:avLst/>
          </a:prstGeom>
          <a:solidFill>
            <a:schemeClr val="accent2">
              <a:lumMod val="75000"/>
            </a:schemeClr>
          </a:solidFill>
          <a:ln>
            <a:noFill/>
          </a:ln>
        </p:spPr>
        <p:txBody>
          <a:bodyPr>
            <a:normAutofit/>
          </a:bodyPr>
          <a:lstStyle/>
          <a:p>
            <a:r>
              <a:rPr lang="en-IN" dirty="0">
                <a:solidFill>
                  <a:srgbClr val="FFFFFF"/>
                </a:solidFill>
              </a:rPr>
              <a:t>Scope of the project</a:t>
            </a:r>
          </a:p>
        </p:txBody>
      </p:sp>
      <p:sp>
        <p:nvSpPr>
          <p:cNvPr id="14" name="TextBox 13">
            <a:extLst>
              <a:ext uri="{FF2B5EF4-FFF2-40B4-BE49-F238E27FC236}">
                <a16:creationId xmlns:a16="http://schemas.microsoft.com/office/drawing/2014/main" id="{E319E705-F4B2-0ED6-75A8-7A7F34866BDE}"/>
              </a:ext>
            </a:extLst>
          </p:cNvPr>
          <p:cNvSpPr txBox="1"/>
          <p:nvPr/>
        </p:nvSpPr>
        <p:spPr>
          <a:xfrm>
            <a:off x="5718008" y="0"/>
            <a:ext cx="6093724" cy="6986593"/>
          </a:xfrm>
          <a:prstGeom prst="rect">
            <a:avLst/>
          </a:prstGeom>
          <a:noFill/>
        </p:spPr>
        <p:txBody>
          <a:bodyPr wrap="square">
            <a:spAutoFit/>
          </a:bodyPr>
          <a:lstStyle/>
          <a:p>
            <a:pPr>
              <a:lnSpc>
                <a:spcPct val="115000"/>
              </a:lnSpc>
              <a:spcAft>
                <a:spcPts val="1000"/>
              </a:spcAft>
              <a:buNone/>
            </a:pPr>
            <a:r>
              <a:rPr lang="en-IN" sz="2400" b="1" dirty="0">
                <a:effectLst/>
                <a:latin typeface="Century Gothic" panose="020B0502020202020204" pitchFamily="34" charset="0"/>
                <a:ea typeface="Times New Roman" panose="02020603050405020304" pitchFamily="18" charset="0"/>
                <a:cs typeface="Times New Roman" panose="02020603050405020304" pitchFamily="18" charset="0"/>
              </a:rPr>
              <a:t>This project focuses on:</a:t>
            </a:r>
            <a:endParaRPr lang="en-IN" sz="2400" dirty="0">
              <a:effectLst/>
              <a:latin typeface="Century Gothic" panose="020B0502020202020204" pitchFamily="34" charset="0"/>
              <a:ea typeface="Times New Roman" panose="02020603050405020304" pitchFamily="18" charset="0"/>
              <a:cs typeface="Times New Roman" panose="02020603050405020304" pitchFamily="18" charset="0"/>
            </a:endParaRPr>
          </a:p>
          <a:p>
            <a:pPr>
              <a:lnSpc>
                <a:spcPct val="115000"/>
              </a:lnSpc>
              <a:spcAft>
                <a:spcPts val="1000"/>
              </a:spcAft>
              <a:buNone/>
            </a:pPr>
            <a:r>
              <a:rPr lang="en-IN" sz="2400" dirty="0">
                <a:effectLst/>
                <a:latin typeface="Century Gothic" panose="020B0502020202020204" pitchFamily="34" charset="0"/>
                <a:ea typeface="Times New Roman" panose="02020603050405020304" pitchFamily="18" charset="0"/>
                <a:cs typeface="Times New Roman" panose="02020603050405020304" pitchFamily="18" charset="0"/>
              </a:rPr>
              <a:t>* Personal finance management</a:t>
            </a:r>
          </a:p>
          <a:p>
            <a:pPr>
              <a:lnSpc>
                <a:spcPct val="115000"/>
              </a:lnSpc>
              <a:spcAft>
                <a:spcPts val="1000"/>
              </a:spcAft>
              <a:buNone/>
            </a:pPr>
            <a:r>
              <a:rPr lang="en-IN" sz="2400" dirty="0">
                <a:effectLst/>
                <a:latin typeface="Century Gothic" panose="020B0502020202020204" pitchFamily="34" charset="0"/>
                <a:ea typeface="Times New Roman" panose="02020603050405020304" pitchFamily="18" charset="0"/>
                <a:cs typeface="Times New Roman" panose="02020603050405020304" pitchFamily="18" charset="0"/>
              </a:rPr>
              <a:t>* Monthly income and expense tracking</a:t>
            </a:r>
          </a:p>
          <a:p>
            <a:pPr>
              <a:lnSpc>
                <a:spcPct val="115000"/>
              </a:lnSpc>
              <a:spcAft>
                <a:spcPts val="1000"/>
              </a:spcAft>
              <a:buNone/>
            </a:pPr>
            <a:r>
              <a:rPr lang="en-IN" sz="2400" dirty="0">
                <a:effectLst/>
                <a:latin typeface="Century Gothic" panose="020B0502020202020204" pitchFamily="34" charset="0"/>
                <a:ea typeface="Times New Roman" panose="02020603050405020304" pitchFamily="18" charset="0"/>
                <a:cs typeface="Times New Roman" panose="02020603050405020304" pitchFamily="18" charset="0"/>
              </a:rPr>
              <a:t>* Budget planning</a:t>
            </a:r>
          </a:p>
          <a:p>
            <a:pPr>
              <a:lnSpc>
                <a:spcPct val="115000"/>
              </a:lnSpc>
              <a:spcAft>
                <a:spcPts val="1000"/>
              </a:spcAft>
              <a:buNone/>
            </a:pPr>
            <a:r>
              <a:rPr lang="en-IN" sz="2400" dirty="0">
                <a:effectLst/>
                <a:latin typeface="Century Gothic" panose="020B0502020202020204" pitchFamily="34" charset="0"/>
                <a:ea typeface="Times New Roman" panose="02020603050405020304" pitchFamily="18" charset="0"/>
                <a:cs typeface="Times New Roman" panose="02020603050405020304" pitchFamily="18" charset="0"/>
              </a:rPr>
              <a:t>* Saving recommendations</a:t>
            </a:r>
          </a:p>
          <a:p>
            <a:pPr>
              <a:lnSpc>
                <a:spcPct val="115000"/>
              </a:lnSpc>
              <a:spcAft>
                <a:spcPts val="1000"/>
              </a:spcAft>
              <a:buNone/>
            </a:pPr>
            <a:r>
              <a:rPr lang="en-IN" sz="2400" dirty="0">
                <a:effectLst/>
                <a:latin typeface="Century Gothic" panose="020B0502020202020204" pitchFamily="34" charset="0"/>
                <a:ea typeface="Times New Roman" panose="02020603050405020304" pitchFamily="18" charset="0"/>
                <a:cs typeface="Times New Roman" panose="02020603050405020304" pitchFamily="18" charset="0"/>
              </a:rPr>
              <a:t>* Financial advice using AI</a:t>
            </a:r>
          </a:p>
          <a:p>
            <a:pPr>
              <a:lnSpc>
                <a:spcPct val="115000"/>
              </a:lnSpc>
              <a:spcAft>
                <a:spcPts val="1000"/>
              </a:spcAft>
              <a:buNone/>
            </a:pPr>
            <a:r>
              <a:rPr lang="en-IN" sz="2400" b="1" dirty="0">
                <a:effectLst/>
                <a:latin typeface="Century Gothic" panose="020B0502020202020204" pitchFamily="34" charset="0"/>
                <a:ea typeface="Times New Roman" panose="02020603050405020304" pitchFamily="18" charset="0"/>
                <a:cs typeface="Times New Roman" panose="02020603050405020304" pitchFamily="18" charset="0"/>
              </a:rPr>
              <a:t>It is suitable for:</a:t>
            </a:r>
            <a:endParaRPr lang="en-IN" sz="2400" dirty="0">
              <a:effectLst/>
              <a:latin typeface="Century Gothic" panose="020B0502020202020204" pitchFamily="34" charset="0"/>
              <a:ea typeface="Times New Roman" panose="02020603050405020304" pitchFamily="18" charset="0"/>
              <a:cs typeface="Times New Roman" panose="02020603050405020304" pitchFamily="18" charset="0"/>
            </a:endParaRPr>
          </a:p>
          <a:p>
            <a:pPr>
              <a:lnSpc>
                <a:spcPct val="115000"/>
              </a:lnSpc>
              <a:spcAft>
                <a:spcPts val="1000"/>
              </a:spcAft>
              <a:buNone/>
            </a:pPr>
            <a:r>
              <a:rPr lang="en-IN" sz="2400" dirty="0">
                <a:effectLst/>
                <a:latin typeface="Century Gothic" panose="020B0502020202020204" pitchFamily="34" charset="0"/>
                <a:ea typeface="Times New Roman" panose="02020603050405020304" pitchFamily="18" charset="0"/>
                <a:cs typeface="Times New Roman" panose="02020603050405020304" pitchFamily="18" charset="0"/>
              </a:rPr>
              <a:t>* Students</a:t>
            </a:r>
          </a:p>
          <a:p>
            <a:pPr>
              <a:lnSpc>
                <a:spcPct val="115000"/>
              </a:lnSpc>
              <a:spcAft>
                <a:spcPts val="1000"/>
              </a:spcAft>
              <a:buNone/>
            </a:pPr>
            <a:r>
              <a:rPr lang="en-IN" sz="2400" dirty="0">
                <a:effectLst/>
                <a:latin typeface="Century Gothic" panose="020B0502020202020204" pitchFamily="34" charset="0"/>
                <a:ea typeface="Times New Roman" panose="02020603050405020304" pitchFamily="18" charset="0"/>
                <a:cs typeface="Times New Roman" panose="02020603050405020304" pitchFamily="18" charset="0"/>
              </a:rPr>
              <a:t>* Working professionals</a:t>
            </a:r>
          </a:p>
          <a:p>
            <a:pPr>
              <a:lnSpc>
                <a:spcPct val="115000"/>
              </a:lnSpc>
              <a:spcAft>
                <a:spcPts val="1000"/>
              </a:spcAft>
              <a:buNone/>
            </a:pPr>
            <a:r>
              <a:rPr lang="en-IN" sz="2400" dirty="0">
                <a:effectLst/>
                <a:latin typeface="Century Gothic" panose="020B0502020202020204" pitchFamily="34" charset="0"/>
                <a:ea typeface="Times New Roman" panose="02020603050405020304" pitchFamily="18" charset="0"/>
                <a:cs typeface="Times New Roman" panose="02020603050405020304" pitchFamily="18" charset="0"/>
              </a:rPr>
              <a:t>* Small business owners</a:t>
            </a:r>
          </a:p>
          <a:p>
            <a:pPr>
              <a:lnSpc>
                <a:spcPct val="115000"/>
              </a:lnSpc>
              <a:spcAft>
                <a:spcPts val="1000"/>
              </a:spcAft>
              <a:buNone/>
            </a:pPr>
            <a:r>
              <a:rPr lang="en-IN" sz="2400" dirty="0">
                <a:effectLst/>
                <a:latin typeface="Century Gothic" panose="020B0502020202020204" pitchFamily="34" charset="0"/>
                <a:ea typeface="Times New Roman" panose="02020603050405020304" pitchFamily="18" charset="0"/>
                <a:cs typeface="Times New Roman" panose="02020603050405020304" pitchFamily="18" charset="0"/>
              </a:rPr>
              <a:t>* Beginners in finance</a:t>
            </a:r>
          </a:p>
          <a:p>
            <a:pPr>
              <a:lnSpc>
                <a:spcPct val="115000"/>
              </a:lnSpc>
              <a:spcAft>
                <a:spcPts val="1000"/>
              </a:spcAft>
              <a:buNone/>
            </a:pPr>
            <a:r>
              <a:rPr lang="en-IN" sz="2400" dirty="0">
                <a:effectLst/>
                <a:latin typeface="Century Gothic" panose="020B0502020202020204" pitchFamily="34" charset="0"/>
                <a:ea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4966196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5" name="Picture 4" descr="Five bulbs and one of them is glowing">
            <a:extLst>
              <a:ext uri="{FF2B5EF4-FFF2-40B4-BE49-F238E27FC236}">
                <a16:creationId xmlns:a16="http://schemas.microsoft.com/office/drawing/2014/main" id="{6502B327-023B-19C1-2A07-58822C3EC950}"/>
              </a:ext>
            </a:extLst>
          </p:cNvPr>
          <p:cNvPicPr>
            <a:picLocks noChangeAspect="1"/>
          </p:cNvPicPr>
          <p:nvPr/>
        </p:nvPicPr>
        <p:blipFill>
          <a:blip r:embed="rId2"/>
          <a:srcRect l="20348" r="20317" b="-1"/>
          <a:stretch/>
        </p:blipFill>
        <p:spPr>
          <a:xfrm>
            <a:off x="642" y="10"/>
            <a:ext cx="5882681" cy="6857990"/>
          </a:xfrm>
          <a:prstGeom prst="rect">
            <a:avLst/>
          </a:prstGeom>
        </p:spPr>
      </p:pic>
      <p:sp>
        <p:nvSpPr>
          <p:cNvPr id="2" name="Title 1">
            <a:extLst>
              <a:ext uri="{FF2B5EF4-FFF2-40B4-BE49-F238E27FC236}">
                <a16:creationId xmlns:a16="http://schemas.microsoft.com/office/drawing/2014/main" id="{7AED9BD6-F510-4FEC-BBC3-026270D71F4F}"/>
              </a:ext>
            </a:extLst>
          </p:cNvPr>
          <p:cNvSpPr>
            <a:spLocks noGrp="1"/>
          </p:cNvSpPr>
          <p:nvPr>
            <p:ph type="title"/>
          </p:nvPr>
        </p:nvSpPr>
        <p:spPr>
          <a:xfrm>
            <a:off x="804672" y="2841505"/>
            <a:ext cx="4487298" cy="1174991"/>
          </a:xfrm>
          <a:solidFill>
            <a:schemeClr val="tx1">
              <a:alpha val="60000"/>
            </a:schemeClr>
          </a:solidFill>
          <a:ln>
            <a:solidFill>
              <a:schemeClr val="bg1"/>
            </a:solidFill>
          </a:ln>
        </p:spPr>
        <p:txBody>
          <a:bodyPr>
            <a:normAutofit/>
          </a:bodyPr>
          <a:lstStyle/>
          <a:p>
            <a:r>
              <a:rPr lang="en-IN" sz="2400" dirty="0">
                <a:solidFill>
                  <a:schemeClr val="bg1"/>
                </a:solidFill>
              </a:rPr>
              <a:t>Technologies used </a:t>
            </a:r>
          </a:p>
        </p:txBody>
      </p:sp>
      <p:sp>
        <p:nvSpPr>
          <p:cNvPr id="8" name="TextBox 7">
            <a:extLst>
              <a:ext uri="{FF2B5EF4-FFF2-40B4-BE49-F238E27FC236}">
                <a16:creationId xmlns:a16="http://schemas.microsoft.com/office/drawing/2014/main" id="{635B321B-180C-8966-0BA2-0291DA79DE75}"/>
              </a:ext>
            </a:extLst>
          </p:cNvPr>
          <p:cNvSpPr txBox="1"/>
          <p:nvPr/>
        </p:nvSpPr>
        <p:spPr>
          <a:xfrm>
            <a:off x="6096000" y="2010900"/>
            <a:ext cx="6093724" cy="3019096"/>
          </a:xfrm>
          <a:prstGeom prst="rect">
            <a:avLst/>
          </a:prstGeom>
          <a:noFill/>
        </p:spPr>
        <p:txBody>
          <a:bodyPr wrap="square">
            <a:spAutoFit/>
          </a:bodyPr>
          <a:lstStyle/>
          <a:p>
            <a:pPr>
              <a:lnSpc>
                <a:spcPct val="115000"/>
              </a:lnSpc>
              <a:spcAft>
                <a:spcPts val="1000"/>
              </a:spcAft>
              <a:buNone/>
            </a:pPr>
            <a:r>
              <a:rPr lang="en-IN" sz="2000" dirty="0">
                <a:effectLst/>
                <a:latin typeface="Century Gothic" panose="020B0502020202020204" pitchFamily="34" charset="0"/>
                <a:ea typeface="Times New Roman" panose="02020603050405020304" pitchFamily="18" charset="0"/>
                <a:cs typeface="Times New Roman" panose="02020603050405020304" pitchFamily="18" charset="0"/>
              </a:rPr>
              <a:t>*Python* – Core programming language</a:t>
            </a:r>
          </a:p>
          <a:p>
            <a:pPr>
              <a:lnSpc>
                <a:spcPct val="115000"/>
              </a:lnSpc>
              <a:spcAft>
                <a:spcPts val="1000"/>
              </a:spcAft>
              <a:buNone/>
            </a:pPr>
            <a:r>
              <a:rPr lang="en-IN" sz="2000" dirty="0">
                <a:effectLst/>
                <a:latin typeface="Century Gothic" panose="020B0502020202020204" pitchFamily="34" charset="0"/>
                <a:ea typeface="Times New Roman" panose="02020603050405020304" pitchFamily="18" charset="0"/>
                <a:cs typeface="Times New Roman" panose="02020603050405020304" pitchFamily="18" charset="0"/>
              </a:rPr>
              <a:t> *</a:t>
            </a:r>
            <a:r>
              <a:rPr lang="en-IN" sz="2000" dirty="0" err="1">
                <a:effectLst/>
                <a:latin typeface="Century Gothic" panose="020B0502020202020204" pitchFamily="34" charset="0"/>
                <a:ea typeface="Times New Roman" panose="02020603050405020304" pitchFamily="18" charset="0"/>
                <a:cs typeface="Times New Roman" panose="02020603050405020304" pitchFamily="18" charset="0"/>
              </a:rPr>
              <a:t>Jupyter</a:t>
            </a:r>
            <a:r>
              <a:rPr lang="en-IN" sz="2000" dirty="0">
                <a:effectLst/>
                <a:latin typeface="Century Gothic" panose="020B0502020202020204" pitchFamily="34" charset="0"/>
                <a:ea typeface="Times New Roman" panose="02020603050405020304" pitchFamily="18" charset="0"/>
                <a:cs typeface="Times New Roman" panose="02020603050405020304" pitchFamily="18" charset="0"/>
              </a:rPr>
              <a:t> Notebook* – Development and analysis</a:t>
            </a:r>
          </a:p>
          <a:p>
            <a:pPr>
              <a:lnSpc>
                <a:spcPct val="115000"/>
              </a:lnSpc>
              <a:spcAft>
                <a:spcPts val="1000"/>
              </a:spcAft>
              <a:buNone/>
            </a:pPr>
            <a:r>
              <a:rPr lang="en-IN" sz="2000" dirty="0">
                <a:effectLst/>
                <a:latin typeface="Century Gothic" panose="020B0502020202020204" pitchFamily="34" charset="0"/>
                <a:ea typeface="Times New Roman" panose="02020603050405020304" pitchFamily="18" charset="0"/>
                <a:cs typeface="Times New Roman" panose="02020603050405020304" pitchFamily="18" charset="0"/>
              </a:rPr>
              <a:t>*MySQL* – Storing user financial data</a:t>
            </a:r>
          </a:p>
          <a:p>
            <a:pPr>
              <a:lnSpc>
                <a:spcPct val="115000"/>
              </a:lnSpc>
              <a:spcAft>
                <a:spcPts val="1000"/>
              </a:spcAft>
              <a:buNone/>
            </a:pPr>
            <a:r>
              <a:rPr lang="en-IN" sz="2000" dirty="0">
                <a:effectLst/>
                <a:latin typeface="Century Gothic" panose="020B0502020202020204" pitchFamily="34" charset="0"/>
                <a:ea typeface="Times New Roman" panose="02020603050405020304" pitchFamily="18" charset="0"/>
                <a:cs typeface="Times New Roman" panose="02020603050405020304" pitchFamily="18" charset="0"/>
              </a:rPr>
              <a:t> *Generative AI* – Providing intelligent responses and suggestions</a:t>
            </a:r>
          </a:p>
          <a:p>
            <a:pPr>
              <a:lnSpc>
                <a:spcPct val="115000"/>
              </a:lnSpc>
              <a:spcAft>
                <a:spcPts val="1000"/>
              </a:spcAft>
              <a:buNone/>
            </a:pPr>
            <a:r>
              <a:rPr lang="en-IN" sz="1800" dirty="0">
                <a:effectLst/>
                <a:latin typeface="Century Gothic" panose="020B0502020202020204" pitchFamily="34" charset="0"/>
                <a:ea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4631410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AEFFFF2-9EB4-4B6C-B9F8-2BA3EF89A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D65299F-028F-4AFC-B46A-8DB33E20F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EEA8E4-2B1A-430A-A41B-30AE8D1A7E78}"/>
              </a:ext>
            </a:extLst>
          </p:cNvPr>
          <p:cNvSpPr>
            <a:spLocks noGrp="1"/>
          </p:cNvSpPr>
          <p:nvPr>
            <p:ph type="title"/>
          </p:nvPr>
        </p:nvSpPr>
        <p:spPr>
          <a:xfrm>
            <a:off x="1260873" y="1586484"/>
            <a:ext cx="3685032" cy="3685032"/>
          </a:xfrm>
          <a:prstGeom prst="ellipse">
            <a:avLst/>
          </a:prstGeom>
          <a:solidFill>
            <a:schemeClr val="accent2">
              <a:lumMod val="75000"/>
            </a:schemeClr>
          </a:solidFill>
          <a:ln>
            <a:noFill/>
          </a:ln>
        </p:spPr>
        <p:txBody>
          <a:bodyPr>
            <a:normAutofit/>
          </a:bodyPr>
          <a:lstStyle/>
          <a:p>
            <a:r>
              <a:rPr lang="en-IN" dirty="0">
                <a:solidFill>
                  <a:schemeClr val="bg1"/>
                </a:solidFill>
              </a:rPr>
              <a:t>System features</a:t>
            </a:r>
          </a:p>
        </p:txBody>
      </p:sp>
      <p:sp>
        <p:nvSpPr>
          <p:cNvPr id="7" name="TextBox 6">
            <a:extLst>
              <a:ext uri="{FF2B5EF4-FFF2-40B4-BE49-F238E27FC236}">
                <a16:creationId xmlns:a16="http://schemas.microsoft.com/office/drawing/2014/main" id="{618CF0D4-3B9C-EC19-72F9-4D6FC92A6182}"/>
              </a:ext>
            </a:extLst>
          </p:cNvPr>
          <p:cNvSpPr txBox="1"/>
          <p:nvPr/>
        </p:nvSpPr>
        <p:spPr>
          <a:xfrm>
            <a:off x="5489812" y="828817"/>
            <a:ext cx="6093724" cy="4774705"/>
          </a:xfrm>
          <a:prstGeom prst="rect">
            <a:avLst/>
          </a:prstGeom>
          <a:noFill/>
        </p:spPr>
        <p:txBody>
          <a:bodyPr wrap="square">
            <a:spAutoFit/>
          </a:bodyPr>
          <a:lstStyle/>
          <a:p>
            <a:pPr>
              <a:lnSpc>
                <a:spcPct val="115000"/>
              </a:lnSpc>
              <a:spcAft>
                <a:spcPts val="1000"/>
              </a:spcAft>
              <a:buNone/>
            </a:pPr>
            <a:r>
              <a:rPr lang="en-IN" sz="2400" dirty="0">
                <a:effectLst/>
                <a:latin typeface="Century Gothic" panose="020B0502020202020204" pitchFamily="34" charset="0"/>
                <a:ea typeface="Times New Roman" panose="02020603050405020304" pitchFamily="18" charset="0"/>
                <a:cs typeface="Times New Roman" panose="02020603050405020304" pitchFamily="18" charset="0"/>
              </a:rPr>
              <a:t>The AI Smart Finance Assistant provides the following features:</a:t>
            </a:r>
          </a:p>
          <a:p>
            <a:pPr>
              <a:lnSpc>
                <a:spcPct val="115000"/>
              </a:lnSpc>
              <a:spcAft>
                <a:spcPts val="1000"/>
              </a:spcAft>
              <a:buNone/>
            </a:pPr>
            <a:r>
              <a:rPr lang="en-IN" sz="2400" dirty="0">
                <a:effectLst/>
                <a:latin typeface="Century Gothic" panose="020B0502020202020204" pitchFamily="34" charset="0"/>
                <a:ea typeface="Times New Roman" panose="02020603050405020304" pitchFamily="18" charset="0"/>
                <a:cs typeface="Times New Roman" panose="02020603050405020304" pitchFamily="18" charset="0"/>
              </a:rPr>
              <a:t> </a:t>
            </a:r>
          </a:p>
          <a:p>
            <a:pPr>
              <a:lnSpc>
                <a:spcPct val="115000"/>
              </a:lnSpc>
              <a:spcAft>
                <a:spcPts val="1000"/>
              </a:spcAft>
              <a:buNone/>
            </a:pPr>
            <a:r>
              <a:rPr lang="en-IN" sz="2400" dirty="0">
                <a:effectLst/>
                <a:latin typeface="Century Gothic" panose="020B0502020202020204" pitchFamily="34" charset="0"/>
                <a:ea typeface="Times New Roman" panose="02020603050405020304" pitchFamily="18" charset="0"/>
                <a:cs typeface="Times New Roman" panose="02020603050405020304" pitchFamily="18" charset="0"/>
              </a:rPr>
              <a:t>* User income and expense input</a:t>
            </a:r>
          </a:p>
          <a:p>
            <a:pPr>
              <a:lnSpc>
                <a:spcPct val="115000"/>
              </a:lnSpc>
              <a:spcAft>
                <a:spcPts val="1000"/>
              </a:spcAft>
              <a:buNone/>
            </a:pPr>
            <a:r>
              <a:rPr lang="en-IN" sz="2400" dirty="0">
                <a:effectLst/>
                <a:latin typeface="Century Gothic" panose="020B0502020202020204" pitchFamily="34" charset="0"/>
                <a:ea typeface="Times New Roman" panose="02020603050405020304" pitchFamily="18" charset="0"/>
                <a:cs typeface="Times New Roman" panose="02020603050405020304" pitchFamily="18" charset="0"/>
              </a:rPr>
              <a:t>* Automatic expense categorization</a:t>
            </a:r>
          </a:p>
          <a:p>
            <a:pPr>
              <a:lnSpc>
                <a:spcPct val="115000"/>
              </a:lnSpc>
              <a:spcAft>
                <a:spcPts val="1000"/>
              </a:spcAft>
              <a:buNone/>
            </a:pPr>
            <a:r>
              <a:rPr lang="en-IN" sz="2400" dirty="0">
                <a:effectLst/>
                <a:latin typeface="Century Gothic" panose="020B0502020202020204" pitchFamily="34" charset="0"/>
                <a:ea typeface="Times New Roman" panose="02020603050405020304" pitchFamily="18" charset="0"/>
                <a:cs typeface="Times New Roman" panose="02020603050405020304" pitchFamily="18" charset="0"/>
              </a:rPr>
              <a:t>* Monthly budget creation</a:t>
            </a:r>
          </a:p>
          <a:p>
            <a:pPr>
              <a:lnSpc>
                <a:spcPct val="115000"/>
              </a:lnSpc>
              <a:spcAft>
                <a:spcPts val="1000"/>
              </a:spcAft>
              <a:buNone/>
            </a:pPr>
            <a:r>
              <a:rPr lang="en-IN" sz="2400" dirty="0">
                <a:effectLst/>
                <a:latin typeface="Century Gothic" panose="020B0502020202020204" pitchFamily="34" charset="0"/>
                <a:ea typeface="Times New Roman" panose="02020603050405020304" pitchFamily="18" charset="0"/>
                <a:cs typeface="Times New Roman" panose="02020603050405020304" pitchFamily="18" charset="0"/>
              </a:rPr>
              <a:t>* Saving tips and alerts</a:t>
            </a:r>
          </a:p>
          <a:p>
            <a:pPr>
              <a:lnSpc>
                <a:spcPct val="115000"/>
              </a:lnSpc>
              <a:spcAft>
                <a:spcPts val="1000"/>
              </a:spcAft>
              <a:buNone/>
            </a:pPr>
            <a:r>
              <a:rPr lang="en-IN" sz="2400" dirty="0">
                <a:effectLst/>
                <a:latin typeface="Century Gothic" panose="020B0502020202020204" pitchFamily="34" charset="0"/>
                <a:ea typeface="Times New Roman" panose="02020603050405020304" pitchFamily="18" charset="0"/>
                <a:cs typeface="Times New Roman" panose="02020603050405020304" pitchFamily="18" charset="0"/>
              </a:rPr>
              <a:t>* Simple financial explanations</a:t>
            </a:r>
          </a:p>
          <a:p>
            <a:pPr>
              <a:lnSpc>
                <a:spcPct val="115000"/>
              </a:lnSpc>
              <a:spcAft>
                <a:spcPts val="1000"/>
              </a:spcAft>
              <a:buNone/>
            </a:pPr>
            <a:r>
              <a:rPr lang="en-IN" sz="2400" dirty="0">
                <a:effectLst/>
                <a:latin typeface="Century Gothic" panose="020B0502020202020204" pitchFamily="34" charset="0"/>
                <a:ea typeface="Times New Roman" panose="02020603050405020304" pitchFamily="18" charset="0"/>
                <a:cs typeface="Times New Roman" panose="02020603050405020304" pitchFamily="18" charset="0"/>
              </a:rPr>
              <a:t>* AI-based financial advice</a:t>
            </a:r>
          </a:p>
        </p:txBody>
      </p:sp>
    </p:spTree>
    <p:extLst>
      <p:ext uri="{BB962C8B-B14F-4D97-AF65-F5344CB8AC3E}">
        <p14:creationId xmlns:p14="http://schemas.microsoft.com/office/powerpoint/2010/main" val="31306552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E78DE-451B-C37A-1A42-8B241516DA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796600-741F-9F0C-8D94-5413B3A749DC}"/>
              </a:ext>
            </a:extLst>
          </p:cNvPr>
          <p:cNvSpPr>
            <a:spLocks noGrp="1"/>
          </p:cNvSpPr>
          <p:nvPr>
            <p:ph type="title"/>
          </p:nvPr>
        </p:nvSpPr>
        <p:spPr>
          <a:xfrm>
            <a:off x="284836" y="685731"/>
            <a:ext cx="5044393" cy="5044393"/>
          </a:xfrm>
          <a:prstGeom prst="ellipse">
            <a:avLst/>
          </a:prstGeom>
          <a:solidFill>
            <a:schemeClr val="accent2">
              <a:lumMod val="75000"/>
            </a:schemeClr>
          </a:solidFill>
          <a:ln>
            <a:noFill/>
          </a:ln>
        </p:spPr>
        <p:txBody>
          <a:bodyPr>
            <a:normAutofit/>
          </a:bodyPr>
          <a:lstStyle/>
          <a:p>
            <a:r>
              <a:rPr lang="en-US" sz="2400" b="1" dirty="0">
                <a:solidFill>
                  <a:schemeClr val="bg1"/>
                </a:solidFill>
              </a:rPr>
              <a:t>Advantages of the project</a:t>
            </a:r>
            <a:br>
              <a:rPr lang="en-US" sz="2400" b="1" dirty="0">
                <a:solidFill>
                  <a:schemeClr val="bg1"/>
                </a:solidFill>
              </a:rPr>
            </a:br>
            <a:r>
              <a:rPr lang="en-US" sz="2400" b="1" dirty="0">
                <a:solidFill>
                  <a:schemeClr val="bg1"/>
                </a:solidFill>
              </a:rPr>
              <a:t> &amp;</a:t>
            </a:r>
            <a:br>
              <a:rPr lang="en-US" sz="2400" b="1" dirty="0">
                <a:solidFill>
                  <a:schemeClr val="bg1"/>
                </a:solidFill>
              </a:rPr>
            </a:br>
            <a:r>
              <a:rPr lang="en-US" sz="2400" b="1" dirty="0">
                <a:solidFill>
                  <a:schemeClr val="bg1"/>
                </a:solidFill>
              </a:rPr>
              <a:t>future enhancements </a:t>
            </a:r>
            <a:br>
              <a:rPr lang="en-US" sz="2400" b="1" dirty="0">
                <a:solidFill>
                  <a:schemeClr val="bg1"/>
                </a:solidFill>
              </a:rPr>
            </a:br>
            <a:br>
              <a:rPr lang="en-US" sz="2400" b="1" dirty="0">
                <a:solidFill>
                  <a:schemeClr val="bg1"/>
                </a:solidFill>
              </a:rPr>
            </a:br>
            <a:endParaRPr lang="en-IN" sz="2400" dirty="0">
              <a:solidFill>
                <a:schemeClr val="bg1"/>
              </a:solidFill>
            </a:endParaRPr>
          </a:p>
        </p:txBody>
      </p:sp>
      <p:sp>
        <p:nvSpPr>
          <p:cNvPr id="5" name="TextBox 4">
            <a:extLst>
              <a:ext uri="{FF2B5EF4-FFF2-40B4-BE49-F238E27FC236}">
                <a16:creationId xmlns:a16="http://schemas.microsoft.com/office/drawing/2014/main" id="{DF4B2F28-4C7C-2E6C-446D-6012CB590EAC}"/>
              </a:ext>
            </a:extLst>
          </p:cNvPr>
          <p:cNvSpPr txBox="1"/>
          <p:nvPr/>
        </p:nvSpPr>
        <p:spPr>
          <a:xfrm>
            <a:off x="6096000" y="573659"/>
            <a:ext cx="6093724" cy="2169633"/>
          </a:xfrm>
          <a:prstGeom prst="rect">
            <a:avLst/>
          </a:prstGeom>
          <a:noFill/>
        </p:spPr>
        <p:txBody>
          <a:bodyPr wrap="square">
            <a:spAutoFit/>
          </a:bodyPr>
          <a:lstStyle/>
          <a:p>
            <a:pPr>
              <a:lnSpc>
                <a:spcPct val="115000"/>
              </a:lnSpc>
              <a:spcAft>
                <a:spcPts val="1000"/>
              </a:spcAft>
              <a:buNone/>
            </a:pPr>
            <a:r>
              <a:rPr lang="en-IN" dirty="0">
                <a:effectLst/>
                <a:latin typeface="Century Gothic" panose="020B0502020202020204" pitchFamily="34" charset="0"/>
                <a:ea typeface="Times New Roman" panose="02020603050405020304" pitchFamily="18" charset="0"/>
                <a:cs typeface="Times New Roman" panose="02020603050405020304" pitchFamily="18" charset="0"/>
              </a:rPr>
              <a:t>* Easy to use</a:t>
            </a:r>
          </a:p>
          <a:p>
            <a:pPr>
              <a:lnSpc>
                <a:spcPct val="115000"/>
              </a:lnSpc>
              <a:spcAft>
                <a:spcPts val="1000"/>
              </a:spcAft>
              <a:buNone/>
            </a:pPr>
            <a:r>
              <a:rPr lang="en-IN" dirty="0">
                <a:effectLst/>
                <a:latin typeface="Century Gothic" panose="020B0502020202020204" pitchFamily="34" charset="0"/>
                <a:ea typeface="Times New Roman" panose="02020603050405020304" pitchFamily="18" charset="0"/>
                <a:cs typeface="Times New Roman" panose="02020603050405020304" pitchFamily="18" charset="0"/>
              </a:rPr>
              <a:t>* User-friendly language</a:t>
            </a:r>
          </a:p>
          <a:p>
            <a:pPr>
              <a:lnSpc>
                <a:spcPct val="115000"/>
              </a:lnSpc>
              <a:spcAft>
                <a:spcPts val="1000"/>
              </a:spcAft>
              <a:buNone/>
            </a:pPr>
            <a:r>
              <a:rPr lang="en-IN" dirty="0">
                <a:effectLst/>
                <a:latin typeface="Century Gothic" panose="020B0502020202020204" pitchFamily="34" charset="0"/>
                <a:ea typeface="Times New Roman" panose="02020603050405020304" pitchFamily="18" charset="0"/>
                <a:cs typeface="Times New Roman" panose="02020603050405020304" pitchFamily="18" charset="0"/>
              </a:rPr>
              <a:t>* Saves time</a:t>
            </a:r>
          </a:p>
          <a:p>
            <a:pPr>
              <a:lnSpc>
                <a:spcPct val="115000"/>
              </a:lnSpc>
              <a:spcAft>
                <a:spcPts val="1000"/>
              </a:spcAft>
              <a:buNone/>
            </a:pPr>
            <a:r>
              <a:rPr lang="en-IN" dirty="0">
                <a:effectLst/>
                <a:latin typeface="Century Gothic" panose="020B0502020202020204" pitchFamily="34" charset="0"/>
                <a:ea typeface="Times New Roman" panose="02020603050405020304" pitchFamily="18" charset="0"/>
                <a:cs typeface="Times New Roman" panose="02020603050405020304" pitchFamily="18" charset="0"/>
              </a:rPr>
              <a:t>* Reduces financial confusion</a:t>
            </a:r>
          </a:p>
          <a:p>
            <a:pPr>
              <a:lnSpc>
                <a:spcPct val="115000"/>
              </a:lnSpc>
              <a:spcAft>
                <a:spcPts val="1000"/>
              </a:spcAft>
              <a:buNone/>
            </a:pPr>
            <a:r>
              <a:rPr lang="en-IN" dirty="0">
                <a:effectLst/>
                <a:latin typeface="Century Gothic" panose="020B0502020202020204" pitchFamily="34" charset="0"/>
                <a:ea typeface="Times New Roman" panose="02020603050405020304" pitchFamily="18" charset="0"/>
                <a:cs typeface="Times New Roman" panose="02020603050405020304" pitchFamily="18" charset="0"/>
              </a:rPr>
              <a:t>* Helps improve money management habits</a:t>
            </a:r>
          </a:p>
        </p:txBody>
      </p:sp>
      <p:sp>
        <p:nvSpPr>
          <p:cNvPr id="7" name="TextBox 6">
            <a:extLst>
              <a:ext uri="{FF2B5EF4-FFF2-40B4-BE49-F238E27FC236}">
                <a16:creationId xmlns:a16="http://schemas.microsoft.com/office/drawing/2014/main" id="{23778200-F0DF-92FA-4DEE-F0EB881CB572}"/>
              </a:ext>
            </a:extLst>
          </p:cNvPr>
          <p:cNvSpPr txBox="1"/>
          <p:nvPr/>
        </p:nvSpPr>
        <p:spPr>
          <a:xfrm>
            <a:off x="6103958" y="204327"/>
            <a:ext cx="3749722" cy="369332"/>
          </a:xfrm>
          <a:prstGeom prst="rect">
            <a:avLst/>
          </a:prstGeom>
          <a:noFill/>
        </p:spPr>
        <p:txBody>
          <a:bodyPr wrap="square">
            <a:spAutoFit/>
          </a:bodyPr>
          <a:lstStyle/>
          <a:p>
            <a:r>
              <a:rPr lang="en-US" sz="1800" b="1" dirty="0"/>
              <a:t>Advantages of the project</a:t>
            </a:r>
            <a:endParaRPr lang="en-IN" dirty="0"/>
          </a:p>
        </p:txBody>
      </p:sp>
      <p:sp>
        <p:nvSpPr>
          <p:cNvPr id="11" name="TextBox 10">
            <a:extLst>
              <a:ext uri="{FF2B5EF4-FFF2-40B4-BE49-F238E27FC236}">
                <a16:creationId xmlns:a16="http://schemas.microsoft.com/office/drawing/2014/main" id="{0B3F06D7-DDCF-12C2-09C7-C54DDBE1946A}"/>
              </a:ext>
            </a:extLst>
          </p:cNvPr>
          <p:cNvSpPr txBox="1"/>
          <p:nvPr/>
        </p:nvSpPr>
        <p:spPr>
          <a:xfrm>
            <a:off x="6199492" y="2860870"/>
            <a:ext cx="3258403" cy="369332"/>
          </a:xfrm>
          <a:prstGeom prst="rect">
            <a:avLst/>
          </a:prstGeom>
          <a:noFill/>
        </p:spPr>
        <p:txBody>
          <a:bodyPr wrap="square">
            <a:spAutoFit/>
          </a:bodyPr>
          <a:lstStyle/>
          <a:p>
            <a:r>
              <a:rPr lang="en-US" sz="1800" b="1" dirty="0"/>
              <a:t>future enhancements </a:t>
            </a:r>
            <a:endParaRPr lang="en-IN" dirty="0"/>
          </a:p>
        </p:txBody>
      </p:sp>
      <p:sp>
        <p:nvSpPr>
          <p:cNvPr id="14" name="TextBox 13">
            <a:extLst>
              <a:ext uri="{FF2B5EF4-FFF2-40B4-BE49-F238E27FC236}">
                <a16:creationId xmlns:a16="http://schemas.microsoft.com/office/drawing/2014/main" id="{9CB3BA1A-79AE-2B6D-9CFC-2FF8501457BD}"/>
              </a:ext>
            </a:extLst>
          </p:cNvPr>
          <p:cNvSpPr txBox="1"/>
          <p:nvPr/>
        </p:nvSpPr>
        <p:spPr>
          <a:xfrm>
            <a:off x="6162950" y="3347780"/>
            <a:ext cx="4322928" cy="2616422"/>
          </a:xfrm>
          <a:prstGeom prst="rect">
            <a:avLst/>
          </a:prstGeom>
          <a:noFill/>
        </p:spPr>
        <p:txBody>
          <a:bodyPr wrap="square">
            <a:spAutoFit/>
          </a:bodyPr>
          <a:lstStyle/>
          <a:p>
            <a:pPr>
              <a:lnSpc>
                <a:spcPct val="115000"/>
              </a:lnSpc>
              <a:spcAft>
                <a:spcPts val="1000"/>
              </a:spcAft>
              <a:buNone/>
            </a:pPr>
            <a:r>
              <a:rPr lang="en-IN" dirty="0">
                <a:effectLst/>
                <a:latin typeface="Century Gothic" panose="020B0502020202020204" pitchFamily="34" charset="0"/>
                <a:ea typeface="Times New Roman" panose="02020603050405020304" pitchFamily="18" charset="0"/>
                <a:cs typeface="Times New Roman" panose="02020603050405020304" pitchFamily="18" charset="0"/>
              </a:rPr>
              <a:t>In the future, this project can include:</a:t>
            </a:r>
          </a:p>
          <a:p>
            <a:pPr>
              <a:lnSpc>
                <a:spcPct val="115000"/>
              </a:lnSpc>
              <a:spcAft>
                <a:spcPts val="1000"/>
              </a:spcAft>
              <a:buNone/>
            </a:pPr>
            <a:r>
              <a:rPr lang="en-IN" dirty="0">
                <a:effectLst/>
                <a:latin typeface="Century Gothic" panose="020B0502020202020204" pitchFamily="34" charset="0"/>
                <a:ea typeface="Times New Roman" panose="02020603050405020304" pitchFamily="18" charset="0"/>
                <a:cs typeface="Times New Roman" panose="02020603050405020304" pitchFamily="18" charset="0"/>
              </a:rPr>
              <a:t>* Mobile application</a:t>
            </a:r>
          </a:p>
          <a:p>
            <a:pPr>
              <a:lnSpc>
                <a:spcPct val="115000"/>
              </a:lnSpc>
              <a:spcAft>
                <a:spcPts val="1000"/>
              </a:spcAft>
              <a:buNone/>
            </a:pPr>
            <a:r>
              <a:rPr lang="en-IN" dirty="0">
                <a:effectLst/>
                <a:latin typeface="Century Gothic" panose="020B0502020202020204" pitchFamily="34" charset="0"/>
                <a:ea typeface="Times New Roman" panose="02020603050405020304" pitchFamily="18" charset="0"/>
                <a:cs typeface="Times New Roman" panose="02020603050405020304" pitchFamily="18" charset="0"/>
              </a:rPr>
              <a:t>* Voice-based assistant</a:t>
            </a:r>
          </a:p>
          <a:p>
            <a:pPr>
              <a:lnSpc>
                <a:spcPct val="115000"/>
              </a:lnSpc>
              <a:spcAft>
                <a:spcPts val="1000"/>
              </a:spcAft>
              <a:buNone/>
            </a:pPr>
            <a:r>
              <a:rPr lang="en-IN" dirty="0">
                <a:effectLst/>
                <a:latin typeface="Century Gothic" panose="020B0502020202020204" pitchFamily="34" charset="0"/>
                <a:ea typeface="Times New Roman" panose="02020603050405020304" pitchFamily="18" charset="0"/>
                <a:cs typeface="Times New Roman" panose="02020603050405020304" pitchFamily="18" charset="0"/>
              </a:rPr>
              <a:t>* Investment guidance</a:t>
            </a:r>
          </a:p>
          <a:p>
            <a:pPr>
              <a:lnSpc>
                <a:spcPct val="115000"/>
              </a:lnSpc>
              <a:spcAft>
                <a:spcPts val="1000"/>
              </a:spcAft>
              <a:buNone/>
            </a:pPr>
            <a:r>
              <a:rPr lang="en-IN" dirty="0">
                <a:effectLst/>
                <a:latin typeface="Century Gothic" panose="020B0502020202020204" pitchFamily="34" charset="0"/>
                <a:ea typeface="Times New Roman" panose="02020603050405020304" pitchFamily="18" charset="0"/>
                <a:cs typeface="Times New Roman" panose="02020603050405020304" pitchFamily="18" charset="0"/>
              </a:rPr>
              <a:t>* Bill reminders</a:t>
            </a:r>
          </a:p>
          <a:p>
            <a:pPr>
              <a:lnSpc>
                <a:spcPct val="115000"/>
              </a:lnSpc>
              <a:spcAft>
                <a:spcPts val="1000"/>
              </a:spcAft>
              <a:buNone/>
            </a:pPr>
            <a:r>
              <a:rPr lang="en-IN" dirty="0">
                <a:effectLst/>
                <a:latin typeface="Century Gothic" panose="020B0502020202020204" pitchFamily="34" charset="0"/>
                <a:ea typeface="Times New Roman" panose="02020603050405020304" pitchFamily="18" charset="0"/>
                <a:cs typeface="Times New Roman" panose="02020603050405020304" pitchFamily="18" charset="0"/>
              </a:rPr>
              <a:t>* Bank API integration</a:t>
            </a:r>
          </a:p>
        </p:txBody>
      </p:sp>
    </p:spTree>
    <p:extLst>
      <p:ext uri="{BB962C8B-B14F-4D97-AF65-F5344CB8AC3E}">
        <p14:creationId xmlns:p14="http://schemas.microsoft.com/office/powerpoint/2010/main" val="20671303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120072-9FDF-EE92-BA06-6D6CF63340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F68898-B495-54A4-04D2-815B38FF1A43}"/>
              </a:ext>
            </a:extLst>
          </p:cNvPr>
          <p:cNvSpPr>
            <a:spLocks noGrp="1"/>
          </p:cNvSpPr>
          <p:nvPr>
            <p:ph type="title"/>
          </p:nvPr>
        </p:nvSpPr>
        <p:spPr>
          <a:xfrm>
            <a:off x="332825" y="1586484"/>
            <a:ext cx="3685032" cy="3685032"/>
          </a:xfrm>
          <a:prstGeom prst="ellipse">
            <a:avLst/>
          </a:prstGeom>
          <a:solidFill>
            <a:schemeClr val="accent2">
              <a:lumMod val="75000"/>
            </a:schemeClr>
          </a:solidFill>
          <a:ln>
            <a:noFill/>
          </a:ln>
        </p:spPr>
        <p:txBody>
          <a:bodyPr>
            <a:normAutofit/>
          </a:bodyPr>
          <a:lstStyle/>
          <a:p>
            <a:r>
              <a:rPr lang="en-IN" dirty="0">
                <a:solidFill>
                  <a:schemeClr val="bg1"/>
                </a:solidFill>
              </a:rPr>
              <a:t>Working of the system</a:t>
            </a:r>
          </a:p>
        </p:txBody>
      </p:sp>
      <p:sp>
        <p:nvSpPr>
          <p:cNvPr id="5" name="TextBox 4">
            <a:extLst>
              <a:ext uri="{FF2B5EF4-FFF2-40B4-BE49-F238E27FC236}">
                <a16:creationId xmlns:a16="http://schemas.microsoft.com/office/drawing/2014/main" id="{9B47A931-7A49-799F-4D5E-02C6D2778F9E}"/>
              </a:ext>
            </a:extLst>
          </p:cNvPr>
          <p:cNvSpPr txBox="1"/>
          <p:nvPr/>
        </p:nvSpPr>
        <p:spPr>
          <a:xfrm>
            <a:off x="4618359" y="1041647"/>
            <a:ext cx="6533865" cy="4774705"/>
          </a:xfrm>
          <a:prstGeom prst="rect">
            <a:avLst/>
          </a:prstGeom>
          <a:noFill/>
        </p:spPr>
        <p:txBody>
          <a:bodyPr wrap="square">
            <a:spAutoFit/>
          </a:bodyPr>
          <a:lstStyle/>
          <a:p>
            <a:pPr>
              <a:lnSpc>
                <a:spcPct val="115000"/>
              </a:lnSpc>
              <a:spcAft>
                <a:spcPts val="1000"/>
              </a:spcAft>
              <a:buNone/>
            </a:pPr>
            <a:r>
              <a:rPr lang="en-IN" sz="2400" dirty="0">
                <a:effectLst/>
                <a:latin typeface="Century Gothic" panose="020B0502020202020204" pitchFamily="34" charset="0"/>
                <a:ea typeface="Times New Roman" panose="02020603050405020304" pitchFamily="18" charset="0"/>
                <a:cs typeface="Times New Roman" panose="02020603050405020304" pitchFamily="18" charset="0"/>
              </a:rPr>
              <a:t>1. User enters income and expense details</a:t>
            </a:r>
          </a:p>
          <a:p>
            <a:pPr>
              <a:lnSpc>
                <a:spcPct val="115000"/>
              </a:lnSpc>
              <a:spcAft>
                <a:spcPts val="1000"/>
              </a:spcAft>
              <a:buNone/>
            </a:pPr>
            <a:r>
              <a:rPr lang="en-IN" sz="2400" dirty="0">
                <a:effectLst/>
                <a:latin typeface="Century Gothic" panose="020B0502020202020204" pitchFamily="34" charset="0"/>
                <a:ea typeface="Times New Roman" panose="02020603050405020304" pitchFamily="18" charset="0"/>
                <a:cs typeface="Times New Roman" panose="02020603050405020304" pitchFamily="18" charset="0"/>
              </a:rPr>
              <a:t>2. Data is stored in the database</a:t>
            </a:r>
          </a:p>
          <a:p>
            <a:pPr>
              <a:lnSpc>
                <a:spcPct val="115000"/>
              </a:lnSpc>
              <a:spcAft>
                <a:spcPts val="1000"/>
              </a:spcAft>
              <a:buNone/>
            </a:pPr>
            <a:r>
              <a:rPr lang="en-IN" sz="2400" dirty="0">
                <a:effectLst/>
                <a:latin typeface="Century Gothic" panose="020B0502020202020204" pitchFamily="34" charset="0"/>
                <a:ea typeface="Times New Roman" panose="02020603050405020304" pitchFamily="18" charset="0"/>
                <a:cs typeface="Times New Roman" panose="02020603050405020304" pitchFamily="18" charset="0"/>
              </a:rPr>
              <a:t>3. AI analyses the data</a:t>
            </a:r>
          </a:p>
          <a:p>
            <a:pPr>
              <a:lnSpc>
                <a:spcPct val="115000"/>
              </a:lnSpc>
              <a:spcAft>
                <a:spcPts val="1000"/>
              </a:spcAft>
              <a:buNone/>
            </a:pPr>
            <a:r>
              <a:rPr lang="en-IN" sz="2400" dirty="0">
                <a:effectLst/>
                <a:latin typeface="Century Gothic" panose="020B0502020202020204" pitchFamily="34" charset="0"/>
                <a:ea typeface="Times New Roman" panose="02020603050405020304" pitchFamily="18" charset="0"/>
                <a:cs typeface="Times New Roman" panose="02020603050405020304" pitchFamily="18" charset="0"/>
              </a:rPr>
              <a:t>4. System generates:</a:t>
            </a:r>
          </a:p>
          <a:p>
            <a:pPr>
              <a:lnSpc>
                <a:spcPct val="115000"/>
              </a:lnSpc>
              <a:spcAft>
                <a:spcPts val="1000"/>
              </a:spcAft>
              <a:buNone/>
            </a:pPr>
            <a:r>
              <a:rPr lang="en-IN" sz="2400" dirty="0">
                <a:effectLst/>
                <a:latin typeface="Century Gothic" panose="020B0502020202020204" pitchFamily="34" charset="0"/>
                <a:ea typeface="Times New Roman" panose="02020603050405020304" pitchFamily="18" charset="0"/>
                <a:cs typeface="Times New Roman" panose="02020603050405020304" pitchFamily="18" charset="0"/>
              </a:rPr>
              <a:t>   * Budget summary</a:t>
            </a:r>
          </a:p>
          <a:p>
            <a:pPr>
              <a:lnSpc>
                <a:spcPct val="115000"/>
              </a:lnSpc>
              <a:spcAft>
                <a:spcPts val="1000"/>
              </a:spcAft>
              <a:buNone/>
            </a:pPr>
            <a:r>
              <a:rPr lang="en-IN" sz="2400" dirty="0">
                <a:effectLst/>
                <a:latin typeface="Century Gothic" panose="020B0502020202020204" pitchFamily="34" charset="0"/>
                <a:ea typeface="Times New Roman" panose="02020603050405020304" pitchFamily="18" charset="0"/>
                <a:cs typeface="Times New Roman" panose="02020603050405020304" pitchFamily="18" charset="0"/>
              </a:rPr>
              <a:t>   * Spending analysis</a:t>
            </a:r>
          </a:p>
          <a:p>
            <a:pPr>
              <a:lnSpc>
                <a:spcPct val="115000"/>
              </a:lnSpc>
              <a:spcAft>
                <a:spcPts val="1000"/>
              </a:spcAft>
              <a:buNone/>
            </a:pPr>
            <a:r>
              <a:rPr lang="en-IN" sz="2400" dirty="0">
                <a:effectLst/>
                <a:latin typeface="Century Gothic" panose="020B0502020202020204" pitchFamily="34" charset="0"/>
                <a:ea typeface="Times New Roman" panose="02020603050405020304" pitchFamily="18" charset="0"/>
                <a:cs typeface="Times New Roman" panose="02020603050405020304" pitchFamily="18" charset="0"/>
              </a:rPr>
              <a:t>   * Saving suggestions</a:t>
            </a:r>
          </a:p>
          <a:p>
            <a:pPr>
              <a:lnSpc>
                <a:spcPct val="115000"/>
              </a:lnSpc>
              <a:spcAft>
                <a:spcPts val="1000"/>
              </a:spcAft>
              <a:buNone/>
            </a:pPr>
            <a:r>
              <a:rPr lang="en-IN" sz="2400" dirty="0">
                <a:effectLst/>
                <a:latin typeface="Century Gothic" panose="020B0502020202020204" pitchFamily="34" charset="0"/>
                <a:ea typeface="Times New Roman" panose="02020603050405020304" pitchFamily="18" charset="0"/>
                <a:cs typeface="Times New Roman" panose="02020603050405020304" pitchFamily="18" charset="0"/>
              </a:rPr>
              <a:t>5. User receives easy and understandable guidance</a:t>
            </a:r>
          </a:p>
        </p:txBody>
      </p:sp>
    </p:spTree>
    <p:extLst>
      <p:ext uri="{BB962C8B-B14F-4D97-AF65-F5344CB8AC3E}">
        <p14:creationId xmlns:p14="http://schemas.microsoft.com/office/powerpoint/2010/main" val="9010649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131FA-8D36-492B-8E16-2BB465AADDDF}"/>
              </a:ext>
            </a:extLst>
          </p:cNvPr>
          <p:cNvSpPr>
            <a:spLocks noGrp="1"/>
          </p:cNvSpPr>
          <p:nvPr>
            <p:ph type="title"/>
          </p:nvPr>
        </p:nvSpPr>
        <p:spPr>
          <a:xfrm>
            <a:off x="446083" y="1775013"/>
            <a:ext cx="4636904" cy="2080120"/>
          </a:xfrm>
          <a:solidFill>
            <a:schemeClr val="tx1">
              <a:alpha val="60000"/>
            </a:schemeClr>
          </a:solidFill>
          <a:ln>
            <a:solidFill>
              <a:schemeClr val="bg1"/>
            </a:solidFill>
          </a:ln>
        </p:spPr>
        <p:txBody>
          <a:bodyPr>
            <a:normAutofit/>
          </a:bodyPr>
          <a:lstStyle/>
          <a:p>
            <a:r>
              <a:rPr lang="en-US" sz="4400" b="1" dirty="0">
                <a:solidFill>
                  <a:schemeClr val="bg1"/>
                </a:solidFill>
              </a:rPr>
              <a:t>coding</a:t>
            </a:r>
            <a:endParaRPr lang="en-IN" sz="4400" dirty="0">
              <a:solidFill>
                <a:schemeClr val="bg1"/>
              </a:solidFill>
            </a:endParaRPr>
          </a:p>
        </p:txBody>
      </p:sp>
      <p:pic>
        <p:nvPicPr>
          <p:cNvPr id="6" name="Picture 5">
            <a:extLst>
              <a:ext uri="{FF2B5EF4-FFF2-40B4-BE49-F238E27FC236}">
                <a16:creationId xmlns:a16="http://schemas.microsoft.com/office/drawing/2014/main" id="{0169FF16-645E-4B84-8E03-25F134A2CC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62039" y="640234"/>
            <a:ext cx="6393001" cy="1824879"/>
          </a:xfrm>
          <a:prstGeom prst="rect">
            <a:avLst/>
          </a:prstGeom>
        </p:spPr>
      </p:pic>
      <p:pic>
        <p:nvPicPr>
          <p:cNvPr id="8" name="Picture 7">
            <a:extLst>
              <a:ext uri="{FF2B5EF4-FFF2-40B4-BE49-F238E27FC236}">
                <a16:creationId xmlns:a16="http://schemas.microsoft.com/office/drawing/2014/main" id="{45F1FBC3-0366-44B8-97A0-0071B06D97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62039" y="2953870"/>
            <a:ext cx="6393001" cy="3280409"/>
          </a:xfrm>
          <a:prstGeom prst="rect">
            <a:avLst/>
          </a:prstGeom>
        </p:spPr>
      </p:pic>
    </p:spTree>
    <p:extLst>
      <p:ext uri="{BB962C8B-B14F-4D97-AF65-F5344CB8AC3E}">
        <p14:creationId xmlns:p14="http://schemas.microsoft.com/office/powerpoint/2010/main" val="4247599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C3E1C3D-633C-4756-B09B-9AD080714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6668" y="640080"/>
            <a:ext cx="10915252" cy="5263134"/>
          </a:xfrm>
          <a:prstGeom prst="rect">
            <a:avLst/>
          </a:prstGeom>
          <a:noFill/>
          <a:ln w="31750" cap="sq">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295DAF8-54BC-4834-A4B1-7DD2F7AFE5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1520" y="802767"/>
            <a:ext cx="10585166" cy="49377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7C0601CA-2C5C-481E-9D21-BA1C40EAAE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07591" y="1484085"/>
            <a:ext cx="7437045" cy="3214670"/>
          </a:xfrm>
          <a:prstGeom prst="rect">
            <a:avLst/>
          </a:prstGeom>
        </p:spPr>
      </p:pic>
    </p:spTree>
    <p:extLst>
      <p:ext uri="{BB962C8B-B14F-4D97-AF65-F5344CB8AC3E}">
        <p14:creationId xmlns:p14="http://schemas.microsoft.com/office/powerpoint/2010/main" val="29007037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218D5-F128-490E-8152-7D32E2A4AAF2}"/>
              </a:ext>
            </a:extLst>
          </p:cNvPr>
          <p:cNvSpPr>
            <a:spLocks noGrp="1"/>
          </p:cNvSpPr>
          <p:nvPr>
            <p:ph type="title"/>
          </p:nvPr>
        </p:nvSpPr>
        <p:spPr>
          <a:xfrm>
            <a:off x="660238" y="1586484"/>
            <a:ext cx="3685032" cy="3685032"/>
          </a:xfrm>
          <a:prstGeom prst="ellipse">
            <a:avLst/>
          </a:prstGeom>
          <a:solidFill>
            <a:schemeClr val="accent2">
              <a:lumMod val="75000"/>
            </a:schemeClr>
          </a:solidFill>
          <a:ln>
            <a:noFill/>
          </a:ln>
        </p:spPr>
        <p:txBody>
          <a:bodyPr>
            <a:normAutofit/>
          </a:bodyPr>
          <a:lstStyle/>
          <a:p>
            <a:r>
              <a:rPr lang="en-US" dirty="0">
                <a:solidFill>
                  <a:srgbClr val="FFFFFF"/>
                </a:solidFill>
              </a:rPr>
              <a:t>Steps </a:t>
            </a:r>
            <a:endParaRPr lang="en-IN" dirty="0">
              <a:solidFill>
                <a:srgbClr val="FFFFFF"/>
              </a:solidFill>
            </a:endParaRPr>
          </a:p>
        </p:txBody>
      </p:sp>
      <p:pic>
        <p:nvPicPr>
          <p:cNvPr id="4" name="Picture 3">
            <a:extLst>
              <a:ext uri="{FF2B5EF4-FFF2-40B4-BE49-F238E27FC236}">
                <a16:creationId xmlns:a16="http://schemas.microsoft.com/office/drawing/2014/main" id="{5C6FC16F-10A8-4027-A9E7-DEA9416487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98067" y="704646"/>
            <a:ext cx="6696075" cy="1572669"/>
          </a:xfrm>
          <a:prstGeom prst="rect">
            <a:avLst/>
          </a:prstGeom>
        </p:spPr>
      </p:pic>
      <p:pic>
        <p:nvPicPr>
          <p:cNvPr id="6" name="Picture 5">
            <a:extLst>
              <a:ext uri="{FF2B5EF4-FFF2-40B4-BE49-F238E27FC236}">
                <a16:creationId xmlns:a16="http://schemas.microsoft.com/office/drawing/2014/main" id="{49C0D8BA-7143-401F-8221-2D8CCE7B350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49245" y="2945718"/>
            <a:ext cx="6882518" cy="1832470"/>
          </a:xfrm>
          <a:prstGeom prst="rect">
            <a:avLst/>
          </a:prstGeom>
        </p:spPr>
      </p:pic>
    </p:spTree>
    <p:extLst>
      <p:ext uri="{BB962C8B-B14F-4D97-AF65-F5344CB8AC3E}">
        <p14:creationId xmlns:p14="http://schemas.microsoft.com/office/powerpoint/2010/main" val="3313257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oup of yellow figures and a red figure on the other side">
            <a:extLst>
              <a:ext uri="{FF2B5EF4-FFF2-40B4-BE49-F238E27FC236}">
                <a16:creationId xmlns:a16="http://schemas.microsoft.com/office/drawing/2014/main" id="{AF55747E-0BF5-40C6-D4AD-0FF058921801}"/>
              </a:ext>
            </a:extLst>
          </p:cNvPr>
          <p:cNvPicPr>
            <a:picLocks noChangeAspect="1"/>
          </p:cNvPicPr>
          <p:nvPr/>
        </p:nvPicPr>
        <p:blipFill>
          <a:blip r:embed="rId2"/>
          <a:srcRect l="38644" r="2022" b="-1"/>
          <a:stretch/>
        </p:blipFill>
        <p:spPr>
          <a:xfrm>
            <a:off x="642" y="10"/>
            <a:ext cx="5064417" cy="6857990"/>
          </a:xfrm>
          <a:prstGeom prst="rect">
            <a:avLst/>
          </a:prstGeom>
        </p:spPr>
      </p:pic>
      <p:sp>
        <p:nvSpPr>
          <p:cNvPr id="2" name="Title 1">
            <a:extLst>
              <a:ext uri="{FF2B5EF4-FFF2-40B4-BE49-F238E27FC236}">
                <a16:creationId xmlns:a16="http://schemas.microsoft.com/office/drawing/2014/main" id="{9B5131FA-8D36-492B-8E16-2BB465AADDDF}"/>
              </a:ext>
            </a:extLst>
          </p:cNvPr>
          <p:cNvSpPr>
            <a:spLocks noGrp="1"/>
          </p:cNvSpPr>
          <p:nvPr>
            <p:ph type="title"/>
          </p:nvPr>
        </p:nvSpPr>
        <p:spPr>
          <a:xfrm>
            <a:off x="365398" y="2689104"/>
            <a:ext cx="4487298" cy="1174991"/>
          </a:xfrm>
          <a:solidFill>
            <a:schemeClr val="tx1">
              <a:alpha val="60000"/>
            </a:schemeClr>
          </a:solidFill>
          <a:ln>
            <a:solidFill>
              <a:schemeClr val="bg1"/>
            </a:solidFill>
          </a:ln>
        </p:spPr>
        <p:txBody>
          <a:bodyPr>
            <a:normAutofit/>
          </a:bodyPr>
          <a:lstStyle/>
          <a:p>
            <a:r>
              <a:rPr lang="en-US" sz="4400" b="1" dirty="0">
                <a:solidFill>
                  <a:schemeClr val="bg1"/>
                </a:solidFill>
              </a:rPr>
              <a:t>graph</a:t>
            </a:r>
            <a:endParaRPr lang="en-IN" sz="4400" dirty="0">
              <a:solidFill>
                <a:schemeClr val="bg1"/>
              </a:solidFill>
            </a:endParaRPr>
          </a:p>
        </p:txBody>
      </p:sp>
      <p:sp>
        <p:nvSpPr>
          <p:cNvPr id="3" name="AutoShape 2" descr="blob:https://web.whatsapp.com/b6c880dc-ff68-42b7-a9d4-f43137bea1e1">
            <a:extLst>
              <a:ext uri="{FF2B5EF4-FFF2-40B4-BE49-F238E27FC236}">
                <a16:creationId xmlns:a16="http://schemas.microsoft.com/office/drawing/2014/main" id="{1D8E4F61-88EC-4F9A-83F4-8D1E94002CAE}"/>
              </a:ext>
            </a:extLst>
          </p:cNvPr>
          <p:cNvSpPr>
            <a:spLocks noChangeAspect="1" noChangeArrowheads="1"/>
          </p:cNvSpPr>
          <p:nvPr/>
        </p:nvSpPr>
        <p:spPr bwMode="auto">
          <a:xfrm>
            <a:off x="5943600" y="3276600"/>
            <a:ext cx="2483224" cy="248322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AutoShape 4" descr="blob:https://web.whatsapp.com/b6c880dc-ff68-42b7-a9d4-f43137bea1e1">
            <a:extLst>
              <a:ext uri="{FF2B5EF4-FFF2-40B4-BE49-F238E27FC236}">
                <a16:creationId xmlns:a16="http://schemas.microsoft.com/office/drawing/2014/main" id="{91A4F7DC-77CB-4CFC-9B8B-21783FA438E6}"/>
              </a:ext>
            </a:extLst>
          </p:cNvPr>
          <p:cNvSpPr>
            <a:spLocks noChangeAspect="1" noChangeArrowheads="1"/>
          </p:cNvSpPr>
          <p:nvPr/>
        </p:nvSpPr>
        <p:spPr bwMode="auto">
          <a:xfrm>
            <a:off x="5943600" y="3276600"/>
            <a:ext cx="3281082" cy="328108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 name="Picture 6">
            <a:extLst>
              <a:ext uri="{FF2B5EF4-FFF2-40B4-BE49-F238E27FC236}">
                <a16:creationId xmlns:a16="http://schemas.microsoft.com/office/drawing/2014/main" id="{386F2E24-D12B-4105-90C0-D423F1F42B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17452" y="1659316"/>
            <a:ext cx="6831106" cy="3539367"/>
          </a:xfrm>
          <a:prstGeom prst="rect">
            <a:avLst/>
          </a:prstGeom>
        </p:spPr>
      </p:pic>
    </p:spTree>
    <p:extLst>
      <p:ext uri="{BB962C8B-B14F-4D97-AF65-F5344CB8AC3E}">
        <p14:creationId xmlns:p14="http://schemas.microsoft.com/office/powerpoint/2010/main" val="29959991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131FA-8D36-492B-8E16-2BB465AADDDF}"/>
              </a:ext>
            </a:extLst>
          </p:cNvPr>
          <p:cNvSpPr>
            <a:spLocks noGrp="1"/>
          </p:cNvSpPr>
          <p:nvPr>
            <p:ph type="title"/>
          </p:nvPr>
        </p:nvSpPr>
        <p:spPr>
          <a:xfrm>
            <a:off x="5445496" y="978776"/>
            <a:ext cx="5925310" cy="1174991"/>
          </a:xfrm>
        </p:spPr>
        <p:txBody>
          <a:bodyPr>
            <a:normAutofit/>
          </a:bodyPr>
          <a:lstStyle/>
          <a:p>
            <a:r>
              <a:rPr lang="en-US" sz="4800" b="1" dirty="0"/>
              <a:t>Conclusion</a:t>
            </a:r>
            <a:endParaRPr lang="en-IN" sz="4800" dirty="0"/>
          </a:p>
        </p:txBody>
      </p:sp>
      <p:pic>
        <p:nvPicPr>
          <p:cNvPr id="5" name="Picture 4" descr="White arrows going to the red target">
            <a:extLst>
              <a:ext uri="{FF2B5EF4-FFF2-40B4-BE49-F238E27FC236}">
                <a16:creationId xmlns:a16="http://schemas.microsoft.com/office/drawing/2014/main" id="{A3EA6280-589F-C0E2-BE2F-BC5FC4617615}"/>
              </a:ext>
            </a:extLst>
          </p:cNvPr>
          <p:cNvPicPr>
            <a:picLocks noChangeAspect="1"/>
          </p:cNvPicPr>
          <p:nvPr/>
        </p:nvPicPr>
        <p:blipFill>
          <a:blip r:embed="rId2"/>
          <a:srcRect l="45161" r="9508" b="-1"/>
          <a:stretch/>
        </p:blipFill>
        <p:spPr>
          <a:xfrm>
            <a:off x="20" y="10"/>
            <a:ext cx="4657325" cy="6857990"/>
          </a:xfrm>
          <a:prstGeom prst="rect">
            <a:avLst/>
          </a:prstGeom>
        </p:spPr>
      </p:pic>
      <p:sp>
        <p:nvSpPr>
          <p:cNvPr id="8" name="TextBox 7">
            <a:extLst>
              <a:ext uri="{FF2B5EF4-FFF2-40B4-BE49-F238E27FC236}">
                <a16:creationId xmlns:a16="http://schemas.microsoft.com/office/drawing/2014/main" id="{82D9E578-08FE-AA97-F881-5F8FB155A0ED}"/>
              </a:ext>
            </a:extLst>
          </p:cNvPr>
          <p:cNvSpPr txBox="1"/>
          <p:nvPr/>
        </p:nvSpPr>
        <p:spPr>
          <a:xfrm>
            <a:off x="5445496" y="2558484"/>
            <a:ext cx="6093724" cy="3877023"/>
          </a:xfrm>
          <a:prstGeom prst="rect">
            <a:avLst/>
          </a:prstGeom>
          <a:noFill/>
        </p:spPr>
        <p:txBody>
          <a:bodyPr wrap="square">
            <a:spAutoFit/>
          </a:bodyPr>
          <a:lstStyle/>
          <a:p>
            <a:pPr>
              <a:lnSpc>
                <a:spcPct val="115000"/>
              </a:lnSpc>
              <a:spcAft>
                <a:spcPts val="1000"/>
              </a:spcAft>
              <a:buNone/>
            </a:pPr>
            <a:r>
              <a:rPr lang="en-IN" sz="2400" dirty="0">
                <a:effectLst/>
                <a:latin typeface="Century Gothic" panose="020B0502020202020204" pitchFamily="34" charset="0"/>
                <a:ea typeface="Times New Roman" panose="02020603050405020304" pitchFamily="18" charset="0"/>
                <a:cs typeface="Times New Roman" panose="02020603050405020304" pitchFamily="18" charset="0"/>
              </a:rPr>
              <a:t>The *AI Smart Finance Assistant* is a powerful and simple solution for people who find finance difficult. By using Generative AI, the project makes financial management easy, interactive, and understandable. This system helps users make better financial decisions and develop healthy money habits.</a:t>
            </a:r>
          </a:p>
        </p:txBody>
      </p:sp>
    </p:spTree>
    <p:extLst>
      <p:ext uri="{BB962C8B-B14F-4D97-AF65-F5344CB8AC3E}">
        <p14:creationId xmlns:p14="http://schemas.microsoft.com/office/powerpoint/2010/main" val="16110831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C2A9291-55AD-4DDC-8735-1BA5A1C98C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78A74F5-46D6-41B8-88F6-8920EDCB47B2}"/>
              </a:ext>
            </a:extLst>
          </p:cNvPr>
          <p:cNvSpPr>
            <a:spLocks noGrp="1"/>
          </p:cNvSpPr>
          <p:nvPr>
            <p:ph type="title"/>
          </p:nvPr>
        </p:nvSpPr>
        <p:spPr>
          <a:xfrm>
            <a:off x="1752600" y="2542604"/>
            <a:ext cx="8686800" cy="1772793"/>
          </a:xfrm>
          <a:solidFill>
            <a:srgbClr val="FFFFFF"/>
          </a:solidFill>
          <a:ln>
            <a:solidFill>
              <a:srgbClr val="404040"/>
            </a:solidFill>
          </a:ln>
        </p:spPr>
        <p:txBody>
          <a:bodyPr vert="horz" wrap="square" lIns="182880" tIns="182880" rIns="182880" bIns="182880" rtlCol="0" anchor="ctr">
            <a:normAutofit/>
          </a:bodyPr>
          <a:lstStyle/>
          <a:p>
            <a:r>
              <a:rPr lang="en-US" sz="4800" kern="1200" cap="all" spc="200" baseline="0">
                <a:solidFill>
                  <a:srgbClr val="262626"/>
                </a:solidFill>
                <a:latin typeface="+mj-lt"/>
                <a:ea typeface="+mj-ea"/>
                <a:cs typeface="+mj-cs"/>
              </a:rPr>
              <a:t>Thank You</a:t>
            </a:r>
          </a:p>
        </p:txBody>
      </p:sp>
    </p:spTree>
    <p:extLst>
      <p:ext uri="{BB962C8B-B14F-4D97-AF65-F5344CB8AC3E}">
        <p14:creationId xmlns:p14="http://schemas.microsoft.com/office/powerpoint/2010/main" val="3720621799"/>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228</TotalTime>
  <Words>572</Words>
  <Application>Microsoft Office PowerPoint</Application>
  <PresentationFormat>Widescreen</PresentationFormat>
  <Paragraphs>105</Paragraphs>
  <Slides>19</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Aptos</vt:lpstr>
      <vt:lpstr>Arial</vt:lpstr>
      <vt:lpstr>Bell MT</vt:lpstr>
      <vt:lpstr>Century Gothic</vt:lpstr>
      <vt:lpstr>Gill Sans MT</vt:lpstr>
      <vt:lpstr>Times New Roman</vt:lpstr>
      <vt:lpstr>Parcel</vt:lpstr>
      <vt:lpstr>CAPSTONE PROJECT </vt:lpstr>
      <vt:lpstr>AI smart finance assistant</vt:lpstr>
      <vt:lpstr>The Team no.9</vt:lpstr>
      <vt:lpstr>Workload Division</vt:lpstr>
      <vt:lpstr>PROJECT THEME</vt:lpstr>
      <vt:lpstr>Problem Statement</vt:lpstr>
      <vt:lpstr>Project overview</vt:lpstr>
      <vt:lpstr>Objectives of the project</vt:lpstr>
      <vt:lpstr>Scope of the project</vt:lpstr>
      <vt:lpstr>Technologies used </vt:lpstr>
      <vt:lpstr>System features</vt:lpstr>
      <vt:lpstr>Advantages of the project  &amp; future enhancements   </vt:lpstr>
      <vt:lpstr>Working of the system</vt:lpstr>
      <vt:lpstr>coding</vt:lpstr>
      <vt:lpstr>PowerPoint Presentation</vt:lpstr>
      <vt:lpstr>Steps </vt:lpstr>
      <vt:lpstr>graph</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Prateek Vashishtha</dc:creator>
  <cp:lastModifiedBy>Skillsaksham .</cp:lastModifiedBy>
  <cp:revision>18</cp:revision>
  <dcterms:created xsi:type="dcterms:W3CDTF">2021-11-25T04:17:35Z</dcterms:created>
  <dcterms:modified xsi:type="dcterms:W3CDTF">2026-02-12T04:34:00Z</dcterms:modified>
</cp:coreProperties>
</file>